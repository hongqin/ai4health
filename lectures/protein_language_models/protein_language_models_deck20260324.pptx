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89184" autoAdjust="0"/>
  </p:normalViewPr>
  <p:slideViewPr>
    <p:cSldViewPr snapToGrid="0" snapToObjects="1">
      <p:cViewPr varScale="1">
        <p:scale>
          <a:sx n="145" d="100"/>
          <a:sy n="145" d="100"/>
        </p:scale>
        <p:origin x="1120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metadata already generates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sets the foundation-model framing for the rest of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Visual adapted from Sarah Gurev, MLCB 2024, using the user’s local Lecture 11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verbal follow-up slide prevents the image slide from becoming overcrowded in the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Layout adapted from Madani et al. via Sarah Gurev, MLCB 2024. This figure frames pLMs as a bridge between data scale and biomedical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makes the analogy to NLP explicit and also shows why protein ML is broader than structure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Key citation: Rives et al., 2021. Use this slide to distinguish model families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Keep students from lumping all protein models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Online teaching source: Galaxy GTN “Fine-tuning the Protein Language Model”.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Primary source: ORNL ProtTrans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Key sources: Rives et al., 2021 and Meier et al., NeurIPS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 summary from Hugging Face ESM docs and the ESMFold paper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Workflow figure adapted from the user’s local Lecture 09/10 deck, originally citing Jumper et al., Nature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Keeping the bullets on a separate slide avoids awkward content splitting in the PPTX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Sources: AlphaFold 2021 and AlphaFold 3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Online source: EMBL-EBI AlphaFold course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is a section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Primary source: ProtGPT2, Nature Communications 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Primary source: ProteinMPNN, Science 2022.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Primary source: RFdiffusion, Nature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Primary sources: EvolutionaryScale repository and Hayes et al., Science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You can tie this slide back to examples in the user’s local Lecture 11 deck on mutation effects and vaccine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is important for keeping the module grounded.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End on distinctions, not just a model list: represent, predict, generate,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Protein Language Models for AI4Health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AI for Health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March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Module </a:t>
            </a:r>
            <a:r>
              <a:rPr lang="en-US" dirty="0"/>
              <a:t>Outline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sequence as language</a:t>
            </a:r>
          </a:p>
          <a:p>
            <a:pPr lvl="0"/>
            <a:r>
              <a:t>representation models</a:t>
            </a:r>
          </a:p>
          <a:p>
            <a:pPr lvl="0"/>
            <a:r>
              <a:t>structure prediction</a:t>
            </a:r>
          </a:p>
          <a:p>
            <a:pPr lvl="0"/>
            <a:r>
              <a:t>generative design</a:t>
            </a:r>
          </a:p>
          <a:p>
            <a:pPr lvl="0"/>
            <a:r>
              <a:t>AI-for-health applications</a:t>
            </a:r>
          </a:p>
          <a:p>
            <a:pPr marL="0" lvl="0" indent="0">
              <a:buNone/>
            </a:pPr>
            <a:r>
              <a:t>Core question:</a:t>
            </a:r>
          </a:p>
          <a:p>
            <a:pPr lvl="0"/>
            <a:r>
              <a:t>what do protein foundation models learn, and how can we use them in health?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this </a:t>
            </a:r>
            <a:r>
              <a:rPr lang="en-US" dirty="0"/>
              <a:t>protein language model</a:t>
            </a:r>
            <a:r>
              <a:rPr dirty="0"/>
              <a:t>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Proteins sit between genotype and phenotype.</a:t>
            </a:r>
          </a:p>
          <a:p>
            <a:pPr lvl="0"/>
            <a:r>
              <a:t>Sequence data is abundant; structural and functional labels are much scarcer.</a:t>
            </a:r>
          </a:p>
          <a:p>
            <a:pPr lvl="0"/>
            <a:r>
              <a:t>Protein language models let us learn from raw sequence scale before task-specific supervision.</a:t>
            </a:r>
          </a:p>
          <a:p>
            <a:pPr lvl="0"/>
            <a:r>
              <a:t>In AI for health, that matters for variant interpretation, therapeutic design, and target biology.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Proteins as a language</a:t>
            </a:r>
          </a:p>
        </p:txBody>
      </p:sp>
      <p:pic>
        <p:nvPicPr>
          <p:cNvPr id="3" name="Picture 1" descr="deck_assets/proteins_language_tabl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930400"/>
            <a:ext cx="82296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the language analogy gives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7864"/>
            <a:ext cx="3931920" cy="3392424"/>
          </a:xfrm>
        </p:spPr>
        <p:txBody>
          <a:bodyPr/>
          <a:lstStyle/>
          <a:p>
            <a:pPr lvl="0"/>
            <a:r>
              <a:t>Amino-acid sequences have local syntax, long-range dependencies, and biological meaning.</a:t>
            </a:r>
          </a:p>
          <a:p>
            <a:pPr lvl="0"/>
            <a:r>
              <a:t>“Meaning” in protein space includes fold, stability, binding, localization, and function.</a:t>
            </a:r>
          </a:p>
        </p:txBody>
      </p:sp>
      <p:pic>
        <p:nvPicPr>
          <p:cNvPr id="4" name="Picture 3" descr="plm-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42062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foundation-model view of proteins</a:t>
            </a:r>
          </a:p>
        </p:txBody>
      </p:sp>
      <p:pic>
        <p:nvPicPr>
          <p:cNvPr id="3" name="Picture 1" descr="deck_assets/protein_model_tasks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1193800"/>
            <a:ext cx="6972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this framing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7864"/>
            <a:ext cx="3931920" cy="3392424"/>
          </a:xfrm>
        </p:spPr>
        <p:txBody>
          <a:bodyPr>
            <a:normAutofit lnSpcReduction="10000"/>
          </a:bodyPr>
          <a:lstStyle/>
          <a:p>
            <a:pPr lvl="0"/>
            <a:r>
              <a:t>Data: sequence repositories, structures, antibodies, and interaction datasets</a:t>
            </a:r>
          </a:p>
          <a:p>
            <a:pPr lvl="0"/>
            <a:r>
              <a:t>Model: a protein foundation model</a:t>
            </a:r>
          </a:p>
          <a:p>
            <a:pPr lvl="0"/>
            <a:r>
              <a:t>Tasks: structure, mutation effects, interactions, and design</a:t>
            </a:r>
          </a:p>
        </p:txBody>
      </p:sp>
      <p:pic>
        <p:nvPicPr>
          <p:cNvPr id="4" name="Picture 3" descr="plm-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42062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protein language models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97864"/>
            <a:ext cx="3958683" cy="3945636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dirty="0"/>
              <a:t>Local biochemical regularities</a:t>
            </a:r>
          </a:p>
          <a:p>
            <a:pPr lvl="0"/>
            <a:r>
              <a:rPr dirty="0"/>
              <a:t>Remote residue dependencies</a:t>
            </a:r>
          </a:p>
          <a:p>
            <a:pPr lvl="0"/>
            <a:r>
              <a:rPr dirty="0"/>
              <a:t>Evolutionary constraints</a:t>
            </a:r>
          </a:p>
          <a:p>
            <a:pPr lvl="0"/>
            <a:r>
              <a:rPr dirty="0"/>
              <a:t>Signals related to structure and mutation effects</a:t>
            </a:r>
          </a:p>
          <a:p>
            <a:pPr marL="0" lvl="0" indent="0">
              <a:buNone/>
            </a:pPr>
            <a:r>
              <a:rPr dirty="0"/>
              <a:t>Rough mental model:</a:t>
            </a:r>
          </a:p>
          <a:p>
            <a:pPr lvl="0"/>
            <a:r>
              <a:rPr dirty="0">
                <a:latin typeface="Courier"/>
              </a:rPr>
              <a:t>representation</a:t>
            </a:r>
            <a:r>
              <a:rPr dirty="0"/>
              <a:t> models embed protein sequences</a:t>
            </a:r>
          </a:p>
          <a:p>
            <a:pPr lvl="0"/>
            <a:r>
              <a:rPr dirty="0">
                <a:latin typeface="Courier"/>
              </a:rPr>
              <a:t>prediction</a:t>
            </a:r>
            <a:r>
              <a:rPr dirty="0"/>
              <a:t> models infer structure or function</a:t>
            </a:r>
          </a:p>
          <a:p>
            <a:pPr lvl="0"/>
            <a:r>
              <a:rPr dirty="0">
                <a:latin typeface="Courier"/>
              </a:rPr>
              <a:t>generation</a:t>
            </a:r>
            <a:r>
              <a:rPr dirty="0"/>
              <a:t> models design new sequences or structures</a:t>
            </a:r>
          </a:p>
        </p:txBody>
      </p:sp>
      <p:pic>
        <p:nvPicPr>
          <p:cNvPr id="4" name="Picture 3" descr="structureb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54480"/>
            <a:ext cx="420624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 practical taxonomy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Canonical 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What goes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What comes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ProtTrans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ESM-1/2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embeddings,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Structure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AlphaFold2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ESMFold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AlphaFold3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sequence, MSA, templates, or single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3D structure and confidence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ProtGPT2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ProteinMPNN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RFdiffusion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ESM3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sequence, structure,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 sequences, structures, 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these models are used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124092" cy="325754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dirty="0"/>
              <a:t>Pretrain once on large unlabeled protein corpora</a:t>
            </a:r>
          </a:p>
          <a:p>
            <a:pPr lvl="0"/>
            <a:r>
              <a:rPr dirty="0"/>
              <a:t>Reuse embeddings for downstream tasks</a:t>
            </a:r>
          </a:p>
          <a:p>
            <a:pPr lvl="0"/>
            <a:r>
              <a:rPr dirty="0"/>
              <a:t>Fine-tune only when the task or dataset justifies it</a:t>
            </a:r>
          </a:p>
          <a:p>
            <a:pPr lvl="0"/>
            <a:r>
              <a:rPr dirty="0"/>
              <a:t>Pair language models with structure models and wet-lab validation</a:t>
            </a:r>
          </a:p>
          <a:p>
            <a:pPr marL="0" lvl="0" indent="0">
              <a:buNone/>
            </a:pPr>
            <a:r>
              <a:rPr dirty="0"/>
              <a:t>Teaching message:</a:t>
            </a:r>
          </a:p>
          <a:p>
            <a:pPr lvl="0"/>
            <a:r>
              <a:rPr dirty="0"/>
              <a:t>Universities usually use pretrained models far more often than they train them from scratch.</a:t>
            </a:r>
          </a:p>
          <a:p>
            <a:pPr marL="0" lvl="0" indent="0">
              <a:buNone/>
            </a:pPr>
            <a:r>
              <a:rPr i="1" dirty="0"/>
              <a:t>Teaching framing adapted from Galaxy Training Network protein language model materials (CC BY 4.0).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ProtTrans and the scale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132885" cy="3327887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dirty="0" err="1">
                <a:latin typeface="Courier"/>
              </a:rPr>
              <a:t>ProtTrans</a:t>
            </a:r>
            <a:r>
              <a:rPr dirty="0"/>
              <a:t> is a good first example of protein transfer learning at scale.</a:t>
            </a:r>
          </a:p>
          <a:p>
            <a:pPr lvl="0"/>
            <a:r>
              <a:rPr dirty="0"/>
              <a:t>ORNL reports training on up to </a:t>
            </a:r>
            <a:r>
              <a:rPr dirty="0">
                <a:latin typeface="Courier"/>
              </a:rPr>
              <a:t>393 billion amino acids</a:t>
            </a:r>
            <a:r>
              <a:rPr dirty="0"/>
              <a:t>.</a:t>
            </a:r>
          </a:p>
          <a:p>
            <a:pPr lvl="0"/>
            <a:r>
              <a:rPr dirty="0"/>
              <a:t>Reported compute included </a:t>
            </a:r>
            <a:r>
              <a:rPr dirty="0">
                <a:latin typeface="Courier"/>
              </a:rPr>
              <a:t>5616 GPUs</a:t>
            </a:r>
            <a:r>
              <a:rPr dirty="0"/>
              <a:t> and up to </a:t>
            </a:r>
            <a:r>
              <a:rPr dirty="0">
                <a:latin typeface="Courier"/>
              </a:rPr>
              <a:t>1024 TPU cores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dirty="0"/>
              <a:t>Takeaway:</a:t>
            </a:r>
          </a:p>
          <a:p>
            <a:pPr lvl="0"/>
            <a:r>
              <a:rPr dirty="0"/>
              <a:t>The main classroom lesson is not the exact number.</a:t>
            </a:r>
          </a:p>
          <a:p>
            <a:pPr lvl="0"/>
            <a:r>
              <a:rPr dirty="0"/>
              <a:t>It is that large protein corpora support reusable biological representations.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ESM and zero-shot mutation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7864"/>
            <a:ext cx="3886200" cy="3347759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dirty="0">
                <a:latin typeface="Courier"/>
              </a:rPr>
              <a:t>ESM</a:t>
            </a:r>
            <a:r>
              <a:rPr dirty="0"/>
              <a:t> models are core sequence representation models.</a:t>
            </a:r>
          </a:p>
          <a:p>
            <a:pPr lvl="0"/>
            <a:r>
              <a:rPr dirty="0"/>
              <a:t>They show that structure- and function-related information can emerge from sequence-only pretraining.</a:t>
            </a:r>
          </a:p>
          <a:p>
            <a:pPr lvl="0"/>
            <a:r>
              <a:rPr dirty="0"/>
              <a:t>Protein language models can also support </a:t>
            </a:r>
            <a:r>
              <a:rPr dirty="0">
                <a:latin typeface="Courier"/>
              </a:rPr>
              <a:t>zero-shot</a:t>
            </a:r>
            <a:r>
              <a:rPr dirty="0"/>
              <a:t> mutation-effect prediction.</a:t>
            </a:r>
          </a:p>
          <a:p>
            <a:pPr marL="0" lvl="0" indent="0">
              <a:buNone/>
            </a:pPr>
            <a:r>
              <a:rPr dirty="0"/>
              <a:t>Health connection:</a:t>
            </a:r>
          </a:p>
          <a:p>
            <a:pPr lvl="0"/>
            <a:r>
              <a:rPr dirty="0"/>
              <a:t>This is one of the clearest paths from </a:t>
            </a:r>
            <a:r>
              <a:rPr dirty="0" err="1"/>
              <a:t>pLMs</a:t>
            </a:r>
            <a:r>
              <a:rPr dirty="0"/>
              <a:t> to disease-variant interpretation.</a:t>
            </a:r>
          </a:p>
        </p:txBody>
      </p:sp>
      <p:pic>
        <p:nvPicPr>
          <p:cNvPr id="4" name="Picture 3" descr="plm-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42062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Structure from language: ESMFold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54264"/>
          </a:xfrm>
        </p:spPr>
        <p:txBody>
          <a:bodyPr>
            <a:normAutofit fontScale="92500"/>
          </a:bodyPr>
          <a:lstStyle/>
          <a:p>
            <a:pPr lvl="0"/>
            <a:r>
              <a:rPr dirty="0" err="1">
                <a:latin typeface="Courier"/>
              </a:rPr>
              <a:t>ESMFold</a:t>
            </a:r>
            <a:r>
              <a:rPr dirty="0"/>
              <a:t> predicts structure from a single sequence using protein LM representations.</a:t>
            </a:r>
          </a:p>
          <a:p>
            <a:pPr lvl="0"/>
            <a:r>
              <a:rPr dirty="0"/>
              <a:t>It avoids the full </a:t>
            </a:r>
            <a:r>
              <a:rPr dirty="0">
                <a:latin typeface="Courier"/>
              </a:rPr>
              <a:t>MSA + template</a:t>
            </a:r>
            <a:r>
              <a:rPr dirty="0"/>
              <a:t> pipeline used by AlphaFold2.</a:t>
            </a:r>
          </a:p>
          <a:p>
            <a:pPr lvl="0"/>
            <a:r>
              <a:rPr dirty="0"/>
              <a:t>This makes it the cleanest bridge from </a:t>
            </a:r>
            <a:r>
              <a:rPr dirty="0" err="1"/>
              <a:t>pLMs</a:t>
            </a:r>
            <a:r>
              <a:rPr dirty="0"/>
              <a:t> to structure prediction.</a:t>
            </a:r>
          </a:p>
          <a:p>
            <a:pPr marL="0" lvl="0" indent="0">
              <a:buNone/>
            </a:pPr>
            <a:r>
              <a:rPr dirty="0"/>
              <a:t>Classroom framing:</a:t>
            </a:r>
          </a:p>
          <a:p>
            <a:pPr lvl="0"/>
            <a:r>
              <a:rPr dirty="0">
                <a:latin typeface="Courier"/>
              </a:rPr>
              <a:t>AlphaFold2</a:t>
            </a:r>
            <a:r>
              <a:rPr dirty="0"/>
              <a:t> changed structure prediction.</a:t>
            </a:r>
          </a:p>
          <a:p>
            <a:pPr lvl="0"/>
            <a:r>
              <a:rPr dirty="0" err="1">
                <a:latin typeface="Courier"/>
              </a:rPr>
              <a:t>ESMFold</a:t>
            </a:r>
            <a:r>
              <a:rPr dirty="0"/>
              <a:t> showed how far single-sequence language models had progressed.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AlphaFold2 remains the comparison point</a:t>
            </a:r>
          </a:p>
        </p:txBody>
      </p:sp>
      <p:pic>
        <p:nvPicPr>
          <p:cNvPr id="3" name="Picture 1" descr="deck_assets/alphafold_workflow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270000"/>
            <a:ext cx="8229600" cy="325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to remember about AlphaFold2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Input sequence plus </a:t>
            </a:r>
            <a:r>
              <a:rPr>
                <a:latin typeface="Courier"/>
              </a:rPr>
              <a:t>MSA</a:t>
            </a:r>
            <a:r>
              <a:t> and optional templates</a:t>
            </a:r>
          </a:p>
          <a:p>
            <a:pPr lvl="0"/>
            <a:r>
              <a:rPr>
                <a:latin typeface="Courier"/>
              </a:rPr>
              <a:t>Evoformer</a:t>
            </a:r>
            <a:r>
              <a:t> updates sequence and pair representations</a:t>
            </a:r>
          </a:p>
          <a:p>
            <a:pPr lvl="0"/>
            <a:r>
              <a:t>Structure module predicts 3D coordinates and confidence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AlphaFold2, ESMFold, and AlphaFold3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7864"/>
            <a:ext cx="3894992" cy="3347759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dirty="0">
                <a:latin typeface="Courier"/>
              </a:rPr>
              <a:t>AlphaFold2</a:t>
            </a:r>
            <a:r>
              <a:rPr dirty="0"/>
              <a:t> strongest historical reference point; relies heavily on MSA information</a:t>
            </a:r>
          </a:p>
          <a:p>
            <a:pPr lvl="0"/>
            <a:r>
              <a:rPr dirty="0" err="1">
                <a:latin typeface="Courier"/>
              </a:rPr>
              <a:t>ESMFold</a:t>
            </a:r>
            <a:r>
              <a:rPr dirty="0"/>
              <a:t> single-sequence structure prediction powered by protein language model representations</a:t>
            </a:r>
          </a:p>
          <a:p>
            <a:pPr lvl="0"/>
            <a:r>
              <a:rPr dirty="0">
                <a:latin typeface="Courier"/>
              </a:rPr>
              <a:t>AlphaFold3</a:t>
            </a:r>
            <a:r>
              <a:rPr dirty="0"/>
              <a:t> extends the task to broader biomolecular interactions involving proteins, nucleic acids, and ligands</a:t>
            </a:r>
          </a:p>
          <a:p>
            <a:pPr marL="0" lvl="0" indent="0">
              <a:buNone/>
            </a:pPr>
            <a:r>
              <a:rPr dirty="0"/>
              <a:t>Teaching rule:</a:t>
            </a:r>
          </a:p>
          <a:p>
            <a:pPr lvl="0"/>
            <a:r>
              <a:rPr dirty="0"/>
              <a:t>Present AlphaFold inside this module as a partner and comparison model, not as a generic protein LM.</a:t>
            </a:r>
          </a:p>
        </p:txBody>
      </p:sp>
      <p:pic>
        <p:nvPicPr>
          <p:cNvPr id="4" name="Picture 3" descr="structure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42062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Reading structure predictions responsibly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132885" cy="3301511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dirty="0"/>
              <a:t>Confidence matters: </a:t>
            </a:r>
            <a:r>
              <a:rPr dirty="0" err="1">
                <a:latin typeface="Courier"/>
              </a:rPr>
              <a:t>pLDDT</a:t>
            </a:r>
            <a:r>
              <a:rPr dirty="0"/>
              <a:t> and </a:t>
            </a:r>
            <a:r>
              <a:rPr dirty="0">
                <a:latin typeface="Courier"/>
              </a:rPr>
              <a:t>PAE</a:t>
            </a:r>
            <a:r>
              <a:rPr dirty="0"/>
              <a:t> are not optional extras</a:t>
            </a:r>
          </a:p>
          <a:p>
            <a:pPr lvl="0"/>
            <a:r>
              <a:rPr dirty="0"/>
              <a:t>High structural confidence is not the same as validated function</a:t>
            </a:r>
          </a:p>
          <a:p>
            <a:pPr lvl="0"/>
            <a:r>
              <a:rPr dirty="0"/>
              <a:t>Disorder, complexes, ligands, and alternate conformations remain hard cases</a:t>
            </a:r>
          </a:p>
          <a:p>
            <a:pPr marL="0" lvl="0" indent="0">
              <a:buNone/>
            </a:pPr>
            <a:r>
              <a:rPr dirty="0"/>
              <a:t>Three warnings for students:</a:t>
            </a:r>
          </a:p>
          <a:p>
            <a:pPr lvl="0"/>
            <a:r>
              <a:rPr dirty="0"/>
              <a:t>pretty structure is not proof</a:t>
            </a:r>
          </a:p>
          <a:p>
            <a:pPr lvl="0"/>
            <a:r>
              <a:rPr dirty="0"/>
              <a:t>monomer structure is not the whole biology</a:t>
            </a:r>
          </a:p>
          <a:p>
            <a:pPr lvl="0"/>
            <a:r>
              <a:rPr dirty="0"/>
              <a:t>experimental validation still decides utility</a:t>
            </a:r>
          </a:p>
          <a:p>
            <a:pPr marL="0" lvl="0" indent="0">
              <a:buNone/>
            </a:pPr>
            <a:r>
              <a:rPr i="1" dirty="0"/>
              <a:t>Pedagogical framing adapted from EMBL-EBI AlphaFold course slides (CC BY 4.0).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From prediction to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Once we can model protein space, we naturally ask whether we can also generate new proteins.</a:t>
            </a:r>
          </a:p>
          <a:p>
            <a:pPr lvl="0"/>
            <a:r>
              <a:t>This splits into three design settings: sequence generation, inverse folding, and structure generation.</a:t>
            </a:r>
          </a:p>
          <a:p>
            <a:pPr marL="0" lvl="0" indent="0">
              <a:buNone/>
            </a:pPr>
            <a:r>
              <a:t>Use this as the transition slide before generative models.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Sequence generation: ProtGPT2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124092" cy="3345472"/>
          </a:xfrm>
        </p:spPr>
        <p:txBody>
          <a:bodyPr>
            <a:normAutofit fontScale="92500"/>
          </a:bodyPr>
          <a:lstStyle/>
          <a:p>
            <a:pPr lvl="0"/>
            <a:r>
              <a:rPr dirty="0"/>
              <a:t>Autoregressive model for de novo protein sequence generation</a:t>
            </a:r>
          </a:p>
          <a:p>
            <a:pPr lvl="0"/>
            <a:r>
              <a:rPr dirty="0"/>
              <a:t>Useful to introduce the idea of “writing” protein sequences directly</a:t>
            </a:r>
          </a:p>
          <a:p>
            <a:pPr lvl="0"/>
            <a:r>
              <a:rPr dirty="0"/>
              <a:t>The paper reports that </a:t>
            </a:r>
            <a:r>
              <a:rPr dirty="0">
                <a:latin typeface="Courier"/>
              </a:rPr>
              <a:t>88%</a:t>
            </a:r>
            <a:r>
              <a:rPr dirty="0"/>
              <a:t> of generated sequences were predicted as globular</a:t>
            </a:r>
          </a:p>
          <a:p>
            <a:pPr marL="0" lvl="0" indent="0">
              <a:buNone/>
            </a:pPr>
            <a:r>
              <a:rPr dirty="0"/>
              <a:t>Main teaching point:</a:t>
            </a:r>
          </a:p>
          <a:p>
            <a:pPr lvl="0"/>
            <a:r>
              <a:rPr dirty="0"/>
              <a:t>Natural-looking sequence is an encouraging signal, but not the same as function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Structure-conditioned design: ProteinMPNN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Input: backbone structure</a:t>
            </a:r>
          </a:p>
          <a:p>
            <a:pPr lvl="0"/>
            <a:r>
              <a:t>Output: a sequence expected to realize that structure</a:t>
            </a:r>
          </a:p>
          <a:p>
            <a:pPr lvl="0"/>
            <a:r>
              <a:t>This is inverse folding rather than generic language modeling</a:t>
            </a:r>
          </a:p>
          <a:p>
            <a:pPr marL="0" lvl="0" indent="0">
              <a:buNone/>
            </a:pPr>
            <a:r>
              <a:t>Why it matters:</a:t>
            </a:r>
          </a:p>
          <a:p>
            <a:pPr lvl="0"/>
            <a:r>
              <a:t>It is a standard step in modern protein design pipelines</a:t>
            </a:r>
          </a:p>
          <a:p>
            <a:pPr lvl="0"/>
            <a:r>
              <a:t>It connects structure generation to actual sequence design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Structure generation: RFdiffusion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Diffusion model for generating protein backbones</a:t>
            </a:r>
          </a:p>
          <a:p>
            <a:pPr lvl="0"/>
            <a:r>
              <a:t>Strong for motif scaffolding, binder design, and de novo structural design</a:t>
            </a:r>
          </a:p>
          <a:p>
            <a:pPr lvl="0"/>
            <a:r>
              <a:t>Often paired with </a:t>
            </a:r>
            <a:r>
              <a:rPr>
                <a:latin typeface="Courier"/>
              </a:rPr>
              <a:t>ProteinMPNN</a:t>
            </a:r>
            <a:r>
              <a:t> after backbone generation</a:t>
            </a:r>
          </a:p>
          <a:p>
            <a:pPr marL="0" lvl="0" indent="0">
              <a:buNone/>
            </a:pPr>
            <a:r>
              <a:t>Takeaway:</a:t>
            </a:r>
          </a:p>
          <a:p>
            <a:pPr lvl="0"/>
            <a:r>
              <a:t>This is one of the most important modern design workflows for students to recognize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Multimodal generation: ESM3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ESM3</a:t>
            </a:r>
            <a:r>
              <a:t> moves beyond sequence-only modeling</a:t>
            </a:r>
          </a:p>
          <a:p>
            <a:pPr lvl="0"/>
            <a:r>
              <a:t>Jointly reasons over </a:t>
            </a:r>
            <a:r>
              <a:rPr>
                <a:latin typeface="Courier"/>
              </a:rPr>
              <a:t>sequence</a:t>
            </a:r>
            <a:r>
              <a:t>, </a:t>
            </a:r>
            <a:r>
              <a:rPr>
                <a:latin typeface="Courier"/>
              </a:rPr>
              <a:t>structure</a:t>
            </a:r>
            <a:r>
              <a:t>, and </a:t>
            </a:r>
            <a:r>
              <a:rPr>
                <a:latin typeface="Courier"/>
              </a:rPr>
              <a:t>function</a:t>
            </a:r>
          </a:p>
          <a:p>
            <a:pPr lvl="0"/>
            <a:r>
              <a:t>A good capstone example because it unifies representation learning and generation</a:t>
            </a:r>
          </a:p>
          <a:p>
            <a:pPr marL="0" lvl="0" indent="0">
              <a:buNone/>
            </a:pPr>
            <a:r>
              <a:t>Frontier message:</a:t>
            </a:r>
          </a:p>
          <a:p>
            <a:pPr lvl="0"/>
            <a:r>
              <a:t>Protein foundation models are moving toward multimodal, prompted biological generation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AI-for-health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7863"/>
            <a:ext cx="3921369" cy="3409305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dirty="0"/>
              <a:t>Missense variant interpretation</a:t>
            </a:r>
          </a:p>
          <a:p>
            <a:pPr lvl="0"/>
            <a:r>
              <a:rPr dirty="0"/>
              <a:t>Antibody and binder design</a:t>
            </a:r>
          </a:p>
          <a:p>
            <a:pPr lvl="0"/>
            <a:r>
              <a:rPr dirty="0"/>
              <a:t>Vaccine and antigen design</a:t>
            </a:r>
          </a:p>
          <a:p>
            <a:pPr lvl="0"/>
            <a:r>
              <a:rPr dirty="0"/>
              <a:t>Enzyme engineering for diagnostics and therapeutics</a:t>
            </a:r>
          </a:p>
          <a:p>
            <a:pPr lvl="0"/>
            <a:r>
              <a:rPr dirty="0"/>
              <a:t>Structure-guided target understanding</a:t>
            </a:r>
          </a:p>
          <a:p>
            <a:pPr marL="0" lvl="0" indent="0">
              <a:buNone/>
            </a:pPr>
            <a:r>
              <a:rPr dirty="0"/>
              <a:t>Balanced conclusion:</a:t>
            </a:r>
          </a:p>
          <a:p>
            <a:pPr lvl="0"/>
            <a:r>
              <a:rPr dirty="0"/>
              <a:t>These models accelerate hypothesis generation</a:t>
            </a:r>
          </a:p>
          <a:p>
            <a:pPr lvl="0"/>
            <a:r>
              <a:rPr dirty="0"/>
              <a:t>They do not replace biological experiments or clinical evidence</a:t>
            </a:r>
          </a:p>
        </p:txBody>
      </p:sp>
      <p:pic>
        <p:nvPicPr>
          <p:cNvPr id="4" name="Picture 3" descr="plm-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42062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Limitations, evaluation,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159262" cy="3301511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dirty="0"/>
              <a:t>Training-data overlap and benchmark leakage are real risks</a:t>
            </a:r>
          </a:p>
          <a:p>
            <a:pPr lvl="0"/>
            <a:r>
              <a:rPr dirty="0"/>
              <a:t>Generated proteins may be plausible but unstable, nonfunctional, or unexpressed</a:t>
            </a:r>
          </a:p>
          <a:p>
            <a:pPr lvl="0"/>
            <a:r>
              <a:rPr dirty="0"/>
              <a:t>Dual-use concerns apply to open generative models</a:t>
            </a:r>
          </a:p>
          <a:p>
            <a:pPr lvl="0"/>
            <a:r>
              <a:rPr dirty="0"/>
              <a:t>Evaluation should combine novelty, structure, assay performance, and biological relevance</a:t>
            </a:r>
          </a:p>
          <a:p>
            <a:pPr marL="0" lvl="0" indent="0">
              <a:buNone/>
            </a:pPr>
            <a:r>
              <a:rPr dirty="0"/>
              <a:t>If students remember one sentence:</a:t>
            </a:r>
          </a:p>
          <a:p>
            <a:pPr lvl="0"/>
            <a:r>
              <a:rPr dirty="0">
                <a:latin typeface="Courier"/>
              </a:rPr>
              <a:t>structure confidence is useful, but function is the real endpoint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Take-home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159262" cy="3319095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dirty="0"/>
              <a:t>Protein language models learn meaningful biological representations from sequence alone</a:t>
            </a:r>
          </a:p>
          <a:p>
            <a:pPr lvl="0"/>
            <a:r>
              <a:rPr dirty="0">
                <a:latin typeface="Courier"/>
              </a:rPr>
              <a:t>AlphaFold2</a:t>
            </a:r>
            <a:r>
              <a:rPr dirty="0"/>
              <a:t>, </a:t>
            </a:r>
            <a:r>
              <a:rPr dirty="0" err="1">
                <a:latin typeface="Courier"/>
              </a:rPr>
              <a:t>ESMFold</a:t>
            </a:r>
            <a:r>
              <a:rPr dirty="0"/>
              <a:t>, and </a:t>
            </a:r>
            <a:r>
              <a:rPr dirty="0">
                <a:latin typeface="Courier"/>
              </a:rPr>
              <a:t>AlphaFold3</a:t>
            </a:r>
            <a:r>
              <a:rPr dirty="0"/>
              <a:t> belong in this module because they anchor the prediction side of the field</a:t>
            </a:r>
          </a:p>
          <a:p>
            <a:pPr lvl="0"/>
            <a:r>
              <a:rPr dirty="0"/>
              <a:t>Generative models now span sequence, inverse folding, and diffusion-based structure design</a:t>
            </a:r>
          </a:p>
          <a:p>
            <a:pPr lvl="0"/>
            <a:r>
              <a:rPr dirty="0"/>
              <a:t>The field is moving toward multimodal protein foundation models</a:t>
            </a:r>
          </a:p>
          <a:p>
            <a:pPr lvl="0"/>
            <a:r>
              <a:rPr dirty="0"/>
              <a:t>In health applications, model output is a starting point, not the final answer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7A03-A8C0-5403-7441-92E904E30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7D764-D1F9-F987-87D9-2EB8492E9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lt-LT" dirty="0" err="1"/>
              <a:t>Rives</a:t>
            </a:r>
            <a:r>
              <a:rPr lang="lt-LT" dirty="0"/>
              <a:t>, A., </a:t>
            </a:r>
            <a:r>
              <a:rPr lang="lt-LT" dirty="0" err="1"/>
              <a:t>Meier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Sercu</a:t>
            </a:r>
            <a:r>
              <a:rPr lang="lt-LT" dirty="0"/>
              <a:t>, </a:t>
            </a:r>
            <a:r>
              <a:rPr lang="lt-LT" dirty="0" err="1"/>
              <a:t>T</a:t>
            </a:r>
            <a:r>
              <a:rPr lang="lt-LT" dirty="0"/>
              <a:t>., </a:t>
            </a:r>
            <a:r>
              <a:rPr lang="lt-LT" dirty="0" err="1"/>
              <a:t>Goyal</a:t>
            </a:r>
            <a:r>
              <a:rPr lang="lt-LT" dirty="0"/>
              <a:t>, </a:t>
            </a:r>
            <a:r>
              <a:rPr lang="lt-LT" dirty="0" err="1"/>
              <a:t>S</a:t>
            </a:r>
            <a:r>
              <a:rPr lang="lt-LT" dirty="0"/>
              <a:t>., </a:t>
            </a:r>
            <a:r>
              <a:rPr lang="lt-LT" dirty="0" err="1"/>
              <a:t>Lin</a:t>
            </a:r>
            <a:r>
              <a:rPr lang="lt-LT" dirty="0"/>
              <a:t>, </a:t>
            </a:r>
            <a:r>
              <a:rPr lang="lt-LT" dirty="0" err="1"/>
              <a:t>Z</a:t>
            </a:r>
            <a:r>
              <a:rPr lang="lt-LT" dirty="0"/>
              <a:t>., </a:t>
            </a:r>
            <a:r>
              <a:rPr lang="lt-LT" dirty="0" err="1"/>
              <a:t>Liu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Guo</a:t>
            </a:r>
            <a:r>
              <a:rPr lang="lt-LT" dirty="0"/>
              <a:t>, D., </a:t>
            </a:r>
            <a:r>
              <a:rPr lang="lt-LT" dirty="0" err="1"/>
              <a:t>Ott</a:t>
            </a:r>
            <a:r>
              <a:rPr lang="lt-LT" dirty="0"/>
              <a:t>, M., </a:t>
            </a:r>
            <a:r>
              <a:rPr lang="lt-LT" dirty="0" err="1"/>
              <a:t>Zitnick</a:t>
            </a:r>
            <a:r>
              <a:rPr lang="lt-LT" dirty="0"/>
              <a:t>, C. L., </a:t>
            </a:r>
            <a:r>
              <a:rPr lang="lt-LT" dirty="0" err="1"/>
              <a:t>Ma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&amp; </a:t>
            </a:r>
            <a:r>
              <a:rPr lang="lt-LT" dirty="0" err="1"/>
              <a:t>Fergus</a:t>
            </a:r>
            <a:r>
              <a:rPr lang="lt-LT" dirty="0"/>
              <a:t>, </a:t>
            </a:r>
            <a:r>
              <a:rPr lang="lt-LT" dirty="0" err="1"/>
              <a:t>R</a:t>
            </a:r>
            <a:r>
              <a:rPr lang="lt-LT" dirty="0"/>
              <a:t>. (2021). </a:t>
            </a:r>
            <a:r>
              <a:rPr lang="lt-LT" dirty="0" err="1"/>
              <a:t>Biological</a:t>
            </a:r>
            <a:r>
              <a:rPr lang="lt-LT" dirty="0"/>
              <a:t> </a:t>
            </a:r>
            <a:r>
              <a:rPr lang="lt-LT" dirty="0" err="1"/>
              <a:t>structure</a:t>
            </a:r>
            <a:r>
              <a:rPr lang="lt-LT" dirty="0"/>
              <a:t> </a:t>
            </a:r>
            <a:r>
              <a:rPr lang="lt-LT" dirty="0" err="1"/>
              <a:t>and</a:t>
            </a:r>
            <a:r>
              <a:rPr lang="lt-LT" dirty="0"/>
              <a:t> </a:t>
            </a:r>
            <a:r>
              <a:rPr lang="lt-LT" dirty="0" err="1"/>
              <a:t>function</a:t>
            </a:r>
            <a:r>
              <a:rPr lang="lt-LT" dirty="0"/>
              <a:t> </a:t>
            </a:r>
            <a:r>
              <a:rPr lang="lt-LT" dirty="0" err="1"/>
              <a:t>emerge</a:t>
            </a:r>
            <a:r>
              <a:rPr lang="lt-LT" dirty="0"/>
              <a:t> </a:t>
            </a:r>
            <a:r>
              <a:rPr lang="lt-LT" dirty="0" err="1"/>
              <a:t>from</a:t>
            </a:r>
            <a:r>
              <a:rPr lang="lt-LT" dirty="0"/>
              <a:t> </a:t>
            </a:r>
            <a:r>
              <a:rPr lang="lt-LT" dirty="0" err="1"/>
              <a:t>scaling</a:t>
            </a:r>
            <a:r>
              <a:rPr lang="lt-LT" dirty="0"/>
              <a:t> </a:t>
            </a:r>
            <a:r>
              <a:rPr lang="lt-LT" dirty="0" err="1"/>
              <a:t>unsupervised</a:t>
            </a:r>
            <a:r>
              <a:rPr lang="lt-LT" dirty="0"/>
              <a:t> </a:t>
            </a:r>
            <a:r>
              <a:rPr lang="lt-LT" dirty="0" err="1"/>
              <a:t>learning</a:t>
            </a:r>
            <a:r>
              <a:rPr lang="lt-LT" dirty="0"/>
              <a:t> to 250 </a:t>
            </a:r>
            <a:r>
              <a:rPr lang="lt-LT" dirty="0" err="1"/>
              <a:t>million</a:t>
            </a:r>
            <a:r>
              <a:rPr lang="lt-LT" dirty="0"/>
              <a:t> </a:t>
            </a:r>
            <a:r>
              <a:rPr lang="lt-LT" dirty="0" err="1"/>
              <a:t>protein</a:t>
            </a:r>
            <a:r>
              <a:rPr lang="lt-LT" dirty="0"/>
              <a:t> </a:t>
            </a:r>
            <a:r>
              <a:rPr lang="lt-LT" dirty="0" err="1"/>
              <a:t>sequences</a:t>
            </a:r>
            <a:r>
              <a:rPr lang="lt-LT" dirty="0"/>
              <a:t>. </a:t>
            </a:r>
            <a:r>
              <a:rPr lang="lt-LT" i="1" dirty="0" err="1"/>
              <a:t>Proceedings</a:t>
            </a:r>
            <a:r>
              <a:rPr lang="lt-LT" i="1" dirty="0"/>
              <a:t> </a:t>
            </a:r>
            <a:r>
              <a:rPr lang="lt-LT" i="1" dirty="0" err="1"/>
              <a:t>of</a:t>
            </a:r>
            <a:r>
              <a:rPr lang="lt-LT" i="1" dirty="0"/>
              <a:t> </a:t>
            </a:r>
            <a:r>
              <a:rPr lang="lt-LT" i="1" dirty="0" err="1"/>
              <a:t>the</a:t>
            </a:r>
            <a:r>
              <a:rPr lang="lt-LT" i="1" dirty="0"/>
              <a:t> </a:t>
            </a:r>
            <a:r>
              <a:rPr lang="lt-LT" i="1" dirty="0" err="1"/>
              <a:t>National</a:t>
            </a:r>
            <a:r>
              <a:rPr lang="lt-LT" i="1" dirty="0"/>
              <a:t> </a:t>
            </a:r>
            <a:r>
              <a:rPr lang="lt-LT" i="1" dirty="0" err="1"/>
              <a:t>Academy</a:t>
            </a:r>
            <a:r>
              <a:rPr lang="lt-LT" i="1" dirty="0"/>
              <a:t> </a:t>
            </a:r>
            <a:r>
              <a:rPr lang="lt-LT" i="1" dirty="0" err="1"/>
              <a:t>of</a:t>
            </a:r>
            <a:r>
              <a:rPr lang="lt-LT" i="1" dirty="0"/>
              <a:t> </a:t>
            </a:r>
            <a:r>
              <a:rPr lang="lt-LT" i="1" dirty="0" err="1"/>
              <a:t>Sciences</a:t>
            </a:r>
            <a:r>
              <a:rPr lang="lt-LT" i="1" dirty="0"/>
              <a:t>, 118</a:t>
            </a:r>
            <a:r>
              <a:rPr lang="lt-LT" dirty="0"/>
              <a:t>(15), e2016239118. https://</a:t>
            </a:r>
            <a:r>
              <a:rPr lang="lt-LT" dirty="0" err="1"/>
              <a:t>doi.org</a:t>
            </a:r>
            <a:r>
              <a:rPr lang="lt-LT" dirty="0"/>
              <a:t>/10.1073/pnas.2016239118</a:t>
            </a:r>
          </a:p>
          <a:p>
            <a:r>
              <a:rPr lang="lt-LT" dirty="0" err="1"/>
              <a:t>Jumper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Evans</a:t>
            </a:r>
            <a:r>
              <a:rPr lang="lt-LT" dirty="0"/>
              <a:t>, </a:t>
            </a:r>
            <a:r>
              <a:rPr lang="lt-LT" dirty="0" err="1"/>
              <a:t>R</a:t>
            </a:r>
            <a:r>
              <a:rPr lang="lt-LT" dirty="0"/>
              <a:t>., </a:t>
            </a:r>
            <a:r>
              <a:rPr lang="lt-LT" dirty="0" err="1"/>
              <a:t>Pritzel</a:t>
            </a:r>
            <a:r>
              <a:rPr lang="lt-LT" dirty="0"/>
              <a:t>, A., </a:t>
            </a:r>
            <a:r>
              <a:rPr lang="lt-LT" dirty="0" err="1"/>
              <a:t>Green</a:t>
            </a:r>
            <a:r>
              <a:rPr lang="lt-LT" dirty="0"/>
              <a:t>, </a:t>
            </a:r>
            <a:r>
              <a:rPr lang="lt-LT" dirty="0" err="1"/>
              <a:t>T</a:t>
            </a:r>
            <a:r>
              <a:rPr lang="lt-LT" dirty="0"/>
              <a:t>., </a:t>
            </a:r>
            <a:r>
              <a:rPr lang="lt-LT" dirty="0" err="1"/>
              <a:t>Figurnov</a:t>
            </a:r>
            <a:r>
              <a:rPr lang="lt-LT" dirty="0"/>
              <a:t>, M., </a:t>
            </a:r>
            <a:r>
              <a:rPr lang="lt-LT" dirty="0" err="1"/>
              <a:t>Ronneberger</a:t>
            </a:r>
            <a:r>
              <a:rPr lang="lt-LT" dirty="0"/>
              <a:t>, O., </a:t>
            </a:r>
            <a:r>
              <a:rPr lang="lt-LT" dirty="0" err="1"/>
              <a:t>Tunyasuvunakool</a:t>
            </a:r>
            <a:r>
              <a:rPr lang="lt-LT" dirty="0"/>
              <a:t>, </a:t>
            </a:r>
            <a:r>
              <a:rPr lang="lt-LT" dirty="0" err="1"/>
              <a:t>K</a:t>
            </a:r>
            <a:r>
              <a:rPr lang="lt-LT" dirty="0"/>
              <a:t>., </a:t>
            </a:r>
            <a:r>
              <a:rPr lang="lt-LT" dirty="0" err="1"/>
              <a:t>Bates</a:t>
            </a:r>
            <a:r>
              <a:rPr lang="lt-LT" dirty="0"/>
              <a:t>, </a:t>
            </a:r>
            <a:r>
              <a:rPr lang="lt-LT" dirty="0" err="1"/>
              <a:t>R</a:t>
            </a:r>
            <a:r>
              <a:rPr lang="lt-LT" dirty="0"/>
              <a:t>., </a:t>
            </a:r>
            <a:r>
              <a:rPr lang="lt-LT" dirty="0" err="1"/>
              <a:t>Žídek</a:t>
            </a:r>
            <a:r>
              <a:rPr lang="lt-LT" dirty="0"/>
              <a:t>, A., </a:t>
            </a:r>
            <a:r>
              <a:rPr lang="lt-LT" dirty="0" err="1"/>
              <a:t>Potapenko</a:t>
            </a:r>
            <a:r>
              <a:rPr lang="lt-LT" dirty="0"/>
              <a:t>, A., </a:t>
            </a:r>
            <a:r>
              <a:rPr lang="lt-LT" dirty="0" err="1"/>
              <a:t>Bridgland</a:t>
            </a:r>
            <a:r>
              <a:rPr lang="lt-LT" dirty="0"/>
              <a:t>, A., </a:t>
            </a:r>
            <a:r>
              <a:rPr lang="lt-LT" dirty="0" err="1"/>
              <a:t>Meyer</a:t>
            </a:r>
            <a:r>
              <a:rPr lang="lt-LT" dirty="0"/>
              <a:t>, C., </a:t>
            </a:r>
            <a:r>
              <a:rPr lang="lt-LT" dirty="0" err="1"/>
              <a:t>Kohl</a:t>
            </a:r>
            <a:r>
              <a:rPr lang="lt-LT" dirty="0"/>
              <a:t>, </a:t>
            </a:r>
            <a:r>
              <a:rPr lang="lt-LT" dirty="0" err="1"/>
              <a:t>S</a:t>
            </a:r>
            <a:r>
              <a:rPr lang="lt-LT" dirty="0"/>
              <a:t>. A. A., </a:t>
            </a:r>
            <a:r>
              <a:rPr lang="lt-LT" dirty="0" err="1"/>
              <a:t>Ballard</a:t>
            </a:r>
            <a:r>
              <a:rPr lang="lt-LT" dirty="0"/>
              <a:t>, A.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Cowie</a:t>
            </a:r>
            <a:r>
              <a:rPr lang="lt-LT" dirty="0"/>
              <a:t>, A., </a:t>
            </a:r>
            <a:r>
              <a:rPr lang="lt-LT" dirty="0" err="1"/>
              <a:t>Romera-Paredes</a:t>
            </a:r>
            <a:r>
              <a:rPr lang="lt-LT" dirty="0"/>
              <a:t>, </a:t>
            </a:r>
            <a:r>
              <a:rPr lang="lt-LT" dirty="0" err="1"/>
              <a:t>B</a:t>
            </a:r>
            <a:r>
              <a:rPr lang="lt-LT" dirty="0"/>
              <a:t>., </a:t>
            </a:r>
            <a:r>
              <a:rPr lang="lt-LT" dirty="0" err="1"/>
              <a:t>Nikolov</a:t>
            </a:r>
            <a:r>
              <a:rPr lang="lt-LT" dirty="0"/>
              <a:t>, </a:t>
            </a:r>
            <a:r>
              <a:rPr lang="lt-LT" dirty="0" err="1"/>
              <a:t>S</a:t>
            </a:r>
            <a:r>
              <a:rPr lang="lt-LT" dirty="0"/>
              <a:t>., </a:t>
            </a:r>
            <a:r>
              <a:rPr lang="lt-LT" dirty="0" err="1"/>
              <a:t>Jain</a:t>
            </a:r>
            <a:r>
              <a:rPr lang="lt-LT" dirty="0"/>
              <a:t>, </a:t>
            </a:r>
            <a:r>
              <a:rPr lang="lt-LT" dirty="0" err="1"/>
              <a:t>R</a:t>
            </a:r>
            <a:r>
              <a:rPr lang="lt-LT" dirty="0"/>
              <a:t>., </a:t>
            </a:r>
            <a:r>
              <a:rPr lang="lt-LT" dirty="0" err="1"/>
              <a:t>Adler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… </a:t>
            </a:r>
            <a:r>
              <a:rPr lang="lt-LT" dirty="0" err="1"/>
              <a:t>Hassabis</a:t>
            </a:r>
            <a:r>
              <a:rPr lang="lt-LT" dirty="0"/>
              <a:t>, D. (2021). </a:t>
            </a:r>
            <a:r>
              <a:rPr lang="lt-LT" dirty="0" err="1"/>
              <a:t>Highly</a:t>
            </a:r>
            <a:r>
              <a:rPr lang="lt-LT" dirty="0"/>
              <a:t> </a:t>
            </a:r>
            <a:r>
              <a:rPr lang="lt-LT" dirty="0" err="1"/>
              <a:t>accurate</a:t>
            </a:r>
            <a:r>
              <a:rPr lang="lt-LT" dirty="0"/>
              <a:t> </a:t>
            </a:r>
            <a:r>
              <a:rPr lang="lt-LT" dirty="0" err="1"/>
              <a:t>protein</a:t>
            </a:r>
            <a:r>
              <a:rPr lang="lt-LT" dirty="0"/>
              <a:t> </a:t>
            </a:r>
            <a:r>
              <a:rPr lang="lt-LT" dirty="0" err="1"/>
              <a:t>structure</a:t>
            </a:r>
            <a:r>
              <a:rPr lang="lt-LT" dirty="0"/>
              <a:t> </a:t>
            </a:r>
            <a:r>
              <a:rPr lang="lt-LT" dirty="0" err="1"/>
              <a:t>prediction</a:t>
            </a:r>
            <a:r>
              <a:rPr lang="lt-LT" dirty="0"/>
              <a:t> </a:t>
            </a:r>
            <a:r>
              <a:rPr lang="lt-LT" dirty="0" err="1"/>
              <a:t>with</a:t>
            </a:r>
            <a:r>
              <a:rPr lang="lt-LT" dirty="0"/>
              <a:t> </a:t>
            </a:r>
            <a:r>
              <a:rPr lang="lt-LT" dirty="0" err="1"/>
              <a:t>AlphaFold</a:t>
            </a:r>
            <a:r>
              <a:rPr lang="lt-LT" dirty="0"/>
              <a:t>. </a:t>
            </a:r>
            <a:r>
              <a:rPr lang="lt-LT" i="1" dirty="0" err="1"/>
              <a:t>Nature</a:t>
            </a:r>
            <a:r>
              <a:rPr lang="lt-LT" i="1" dirty="0"/>
              <a:t>, 596</a:t>
            </a:r>
            <a:r>
              <a:rPr lang="lt-LT" dirty="0"/>
              <a:t>(7873), 583–589. https://</a:t>
            </a:r>
            <a:r>
              <a:rPr lang="lt-LT" dirty="0" err="1"/>
              <a:t>doi.org</a:t>
            </a:r>
            <a:r>
              <a:rPr lang="lt-LT" dirty="0"/>
              <a:t>/10.1038/s41586-021-03819-2</a:t>
            </a:r>
          </a:p>
          <a:p>
            <a:r>
              <a:rPr lang="lt-LT" dirty="0" err="1"/>
              <a:t>Abramson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Adler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Dunger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Evans</a:t>
            </a:r>
            <a:r>
              <a:rPr lang="lt-LT" dirty="0"/>
              <a:t>, </a:t>
            </a:r>
            <a:r>
              <a:rPr lang="lt-LT" dirty="0" err="1"/>
              <a:t>R</a:t>
            </a:r>
            <a:r>
              <a:rPr lang="lt-LT" dirty="0"/>
              <a:t>., </a:t>
            </a:r>
            <a:r>
              <a:rPr lang="lt-LT" dirty="0" err="1"/>
              <a:t>Green</a:t>
            </a:r>
            <a:r>
              <a:rPr lang="lt-LT" dirty="0"/>
              <a:t>, </a:t>
            </a:r>
            <a:r>
              <a:rPr lang="lt-LT" dirty="0" err="1"/>
              <a:t>T</a:t>
            </a:r>
            <a:r>
              <a:rPr lang="lt-LT" dirty="0"/>
              <a:t>., </a:t>
            </a:r>
            <a:r>
              <a:rPr lang="lt-LT" dirty="0" err="1"/>
              <a:t>Pritzel</a:t>
            </a:r>
            <a:r>
              <a:rPr lang="lt-LT" dirty="0"/>
              <a:t>, A., </a:t>
            </a:r>
            <a:r>
              <a:rPr lang="lt-LT" dirty="0" err="1"/>
              <a:t>Ronneberger</a:t>
            </a:r>
            <a:r>
              <a:rPr lang="lt-LT" dirty="0"/>
              <a:t>, O., </a:t>
            </a:r>
            <a:r>
              <a:rPr lang="lt-LT" dirty="0" err="1"/>
              <a:t>Willmore</a:t>
            </a:r>
            <a:r>
              <a:rPr lang="lt-LT" dirty="0"/>
              <a:t>, L., </a:t>
            </a:r>
            <a:r>
              <a:rPr lang="lt-LT" dirty="0" err="1"/>
              <a:t>Ballard</a:t>
            </a:r>
            <a:r>
              <a:rPr lang="lt-LT" dirty="0"/>
              <a:t>, A.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Bambrick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Bodenstein</a:t>
            </a:r>
            <a:r>
              <a:rPr lang="lt-LT" dirty="0"/>
              <a:t>, </a:t>
            </a:r>
            <a:r>
              <a:rPr lang="lt-LT" dirty="0" err="1"/>
              <a:t>S</a:t>
            </a:r>
            <a:r>
              <a:rPr lang="lt-LT" dirty="0"/>
              <a:t>. </a:t>
            </a:r>
            <a:r>
              <a:rPr lang="lt-LT" dirty="0" err="1"/>
              <a:t>W</a:t>
            </a:r>
            <a:r>
              <a:rPr lang="lt-LT" dirty="0"/>
              <a:t>., </a:t>
            </a:r>
            <a:r>
              <a:rPr lang="lt-LT" dirty="0" err="1"/>
              <a:t>Evans</a:t>
            </a:r>
            <a:r>
              <a:rPr lang="lt-LT" dirty="0"/>
              <a:t>, D. A., </a:t>
            </a:r>
            <a:r>
              <a:rPr lang="lt-LT" dirty="0" err="1"/>
              <a:t>Hung</a:t>
            </a:r>
            <a:r>
              <a:rPr lang="lt-LT" dirty="0"/>
              <a:t>, C.-C., </a:t>
            </a:r>
            <a:r>
              <a:rPr lang="lt-LT" dirty="0" err="1"/>
              <a:t>O’Neill</a:t>
            </a:r>
            <a:r>
              <a:rPr lang="lt-LT" dirty="0"/>
              <a:t>, M., </a:t>
            </a:r>
            <a:r>
              <a:rPr lang="lt-LT" dirty="0" err="1"/>
              <a:t>Reiman</a:t>
            </a:r>
            <a:r>
              <a:rPr lang="lt-LT" dirty="0"/>
              <a:t>, D., </a:t>
            </a:r>
            <a:r>
              <a:rPr lang="lt-LT" dirty="0" err="1"/>
              <a:t>Tunyasuvunakool</a:t>
            </a:r>
            <a:r>
              <a:rPr lang="lt-LT" dirty="0"/>
              <a:t>, </a:t>
            </a:r>
            <a:r>
              <a:rPr lang="lt-LT" dirty="0" err="1"/>
              <a:t>K</a:t>
            </a:r>
            <a:r>
              <a:rPr lang="lt-LT" dirty="0"/>
              <a:t>., </a:t>
            </a:r>
            <a:r>
              <a:rPr lang="lt-LT" dirty="0" err="1"/>
              <a:t>Wu</a:t>
            </a:r>
            <a:r>
              <a:rPr lang="lt-LT" dirty="0"/>
              <a:t>, </a:t>
            </a:r>
            <a:r>
              <a:rPr lang="lt-LT" dirty="0" err="1"/>
              <a:t>Z</a:t>
            </a:r>
            <a:r>
              <a:rPr lang="lt-LT" dirty="0"/>
              <a:t>., </a:t>
            </a:r>
            <a:r>
              <a:rPr lang="lt-LT" dirty="0" err="1"/>
              <a:t>Žemgulytė</a:t>
            </a:r>
            <a:r>
              <a:rPr lang="lt-LT" dirty="0"/>
              <a:t>, A., </a:t>
            </a:r>
            <a:r>
              <a:rPr lang="lt-LT" dirty="0" err="1"/>
              <a:t>Arvaniti</a:t>
            </a:r>
            <a:r>
              <a:rPr lang="lt-LT" dirty="0"/>
              <a:t>, E., … </a:t>
            </a:r>
            <a:r>
              <a:rPr lang="lt-LT" dirty="0" err="1"/>
              <a:t>Jumper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 M. (2024). </a:t>
            </a:r>
            <a:r>
              <a:rPr lang="lt-LT" dirty="0" err="1"/>
              <a:t>Accurate</a:t>
            </a:r>
            <a:r>
              <a:rPr lang="lt-LT" dirty="0"/>
              <a:t> </a:t>
            </a:r>
            <a:r>
              <a:rPr lang="lt-LT" dirty="0" err="1"/>
              <a:t>structure</a:t>
            </a:r>
            <a:r>
              <a:rPr lang="lt-LT" dirty="0"/>
              <a:t> </a:t>
            </a:r>
            <a:r>
              <a:rPr lang="lt-LT" dirty="0" err="1"/>
              <a:t>prediction</a:t>
            </a:r>
            <a:r>
              <a:rPr lang="lt-LT" dirty="0"/>
              <a:t> </a:t>
            </a:r>
            <a:r>
              <a:rPr lang="lt-LT" dirty="0" err="1"/>
              <a:t>of</a:t>
            </a:r>
            <a:r>
              <a:rPr lang="lt-LT" dirty="0"/>
              <a:t> </a:t>
            </a:r>
            <a:r>
              <a:rPr lang="lt-LT" dirty="0" err="1"/>
              <a:t>biomolecular</a:t>
            </a:r>
            <a:r>
              <a:rPr lang="lt-LT" dirty="0"/>
              <a:t> </a:t>
            </a:r>
            <a:r>
              <a:rPr lang="lt-LT" dirty="0" err="1"/>
              <a:t>interactions</a:t>
            </a:r>
            <a:r>
              <a:rPr lang="lt-LT" dirty="0"/>
              <a:t> </a:t>
            </a:r>
            <a:r>
              <a:rPr lang="lt-LT" dirty="0" err="1"/>
              <a:t>with</a:t>
            </a:r>
            <a:r>
              <a:rPr lang="lt-LT" dirty="0"/>
              <a:t> </a:t>
            </a:r>
            <a:r>
              <a:rPr lang="lt-LT" dirty="0" err="1"/>
              <a:t>AlphaFold</a:t>
            </a:r>
            <a:r>
              <a:rPr lang="lt-LT" dirty="0"/>
              <a:t> 3. </a:t>
            </a:r>
            <a:r>
              <a:rPr lang="lt-LT" i="1" dirty="0" err="1"/>
              <a:t>Nature</a:t>
            </a:r>
            <a:r>
              <a:rPr lang="lt-LT" i="1" dirty="0"/>
              <a:t>, 630</a:t>
            </a:r>
            <a:r>
              <a:rPr lang="lt-LT" dirty="0"/>
              <a:t>(8016), 493–500. https://</a:t>
            </a:r>
            <a:r>
              <a:rPr lang="lt-LT" dirty="0" err="1"/>
              <a:t>doi.org</a:t>
            </a:r>
            <a:r>
              <a:rPr lang="lt-LT" dirty="0"/>
              <a:t>/10.1038/s41586-024-07487-w</a:t>
            </a:r>
            <a:br>
              <a:rPr lang="lt-LT" dirty="0"/>
            </a:br>
            <a:endParaRPr lang="lt-LT" dirty="0"/>
          </a:p>
          <a:p>
            <a:r>
              <a:rPr lang="lt-LT" dirty="0" err="1"/>
              <a:t>Ferruz</a:t>
            </a:r>
            <a:r>
              <a:rPr lang="lt-LT" dirty="0"/>
              <a:t>, </a:t>
            </a:r>
            <a:r>
              <a:rPr lang="lt-LT" dirty="0" err="1"/>
              <a:t>N</a:t>
            </a:r>
            <a:r>
              <a:rPr lang="lt-LT" dirty="0"/>
              <a:t>., </a:t>
            </a:r>
            <a:r>
              <a:rPr lang="lt-LT" dirty="0" err="1"/>
              <a:t>Schmidt</a:t>
            </a:r>
            <a:r>
              <a:rPr lang="lt-LT" dirty="0"/>
              <a:t>, </a:t>
            </a:r>
            <a:r>
              <a:rPr lang="lt-LT" dirty="0" err="1"/>
              <a:t>S</a:t>
            </a:r>
            <a:r>
              <a:rPr lang="lt-LT" dirty="0"/>
              <a:t>., &amp; </a:t>
            </a:r>
            <a:r>
              <a:rPr lang="lt-LT" dirty="0" err="1"/>
              <a:t>Höcker</a:t>
            </a:r>
            <a:r>
              <a:rPr lang="lt-LT" dirty="0"/>
              <a:t>, </a:t>
            </a:r>
            <a:r>
              <a:rPr lang="lt-LT" dirty="0" err="1"/>
              <a:t>B</a:t>
            </a:r>
            <a:r>
              <a:rPr lang="lt-LT" dirty="0"/>
              <a:t>. (2022). ProtGPT2 </a:t>
            </a:r>
            <a:r>
              <a:rPr lang="lt-LT" dirty="0" err="1"/>
              <a:t>is</a:t>
            </a:r>
            <a:r>
              <a:rPr lang="lt-LT" dirty="0"/>
              <a:t> a </a:t>
            </a:r>
            <a:r>
              <a:rPr lang="lt-LT" dirty="0" err="1"/>
              <a:t>deep</a:t>
            </a:r>
            <a:r>
              <a:rPr lang="lt-LT" dirty="0"/>
              <a:t> </a:t>
            </a:r>
            <a:r>
              <a:rPr lang="lt-LT" dirty="0" err="1"/>
              <a:t>unsupervised</a:t>
            </a:r>
            <a:r>
              <a:rPr lang="lt-LT" dirty="0"/>
              <a:t> </a:t>
            </a:r>
            <a:r>
              <a:rPr lang="lt-LT" dirty="0" err="1"/>
              <a:t>language</a:t>
            </a:r>
            <a:r>
              <a:rPr lang="lt-LT" dirty="0"/>
              <a:t> </a:t>
            </a:r>
            <a:r>
              <a:rPr lang="lt-LT" dirty="0" err="1"/>
              <a:t>model</a:t>
            </a:r>
            <a:r>
              <a:rPr lang="lt-LT" dirty="0"/>
              <a:t> </a:t>
            </a:r>
            <a:r>
              <a:rPr lang="lt-LT" dirty="0" err="1"/>
              <a:t>for</a:t>
            </a:r>
            <a:r>
              <a:rPr lang="lt-LT" dirty="0"/>
              <a:t> </a:t>
            </a:r>
            <a:r>
              <a:rPr lang="lt-LT" dirty="0" err="1"/>
              <a:t>protein</a:t>
            </a:r>
            <a:r>
              <a:rPr lang="lt-LT" dirty="0"/>
              <a:t> </a:t>
            </a:r>
            <a:r>
              <a:rPr lang="lt-LT" dirty="0" err="1"/>
              <a:t>design</a:t>
            </a:r>
            <a:r>
              <a:rPr lang="lt-LT" dirty="0"/>
              <a:t>. </a:t>
            </a:r>
            <a:r>
              <a:rPr lang="lt-LT" i="1" dirty="0" err="1"/>
              <a:t>Nature</a:t>
            </a:r>
            <a:r>
              <a:rPr lang="lt-LT" i="1" dirty="0"/>
              <a:t> </a:t>
            </a:r>
            <a:r>
              <a:rPr lang="lt-LT" i="1" dirty="0" err="1"/>
              <a:t>Communications</a:t>
            </a:r>
            <a:r>
              <a:rPr lang="lt-LT" i="1" dirty="0"/>
              <a:t>, 13</a:t>
            </a:r>
            <a:r>
              <a:rPr lang="lt-LT" dirty="0"/>
              <a:t>(1), 4348. https://</a:t>
            </a:r>
            <a:r>
              <a:rPr lang="lt-LT" dirty="0" err="1"/>
              <a:t>doi.org</a:t>
            </a:r>
            <a:r>
              <a:rPr lang="lt-LT" dirty="0"/>
              <a:t>/10.1038/s41467-022-32007-7</a:t>
            </a:r>
            <a:br>
              <a:rPr lang="lt-LT" dirty="0"/>
            </a:br>
            <a:endParaRPr lang="lt-LT" dirty="0"/>
          </a:p>
          <a:p>
            <a:r>
              <a:rPr lang="lt-LT" dirty="0" err="1"/>
              <a:t>Watson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 L., </a:t>
            </a:r>
            <a:r>
              <a:rPr lang="lt-LT" dirty="0" err="1"/>
              <a:t>Juergens</a:t>
            </a:r>
            <a:r>
              <a:rPr lang="lt-LT" dirty="0"/>
              <a:t>, D., </a:t>
            </a:r>
            <a:r>
              <a:rPr lang="lt-LT" dirty="0" err="1"/>
              <a:t>Bennett</a:t>
            </a:r>
            <a:r>
              <a:rPr lang="lt-LT" dirty="0"/>
              <a:t>, </a:t>
            </a:r>
            <a:r>
              <a:rPr lang="lt-LT" dirty="0" err="1"/>
              <a:t>N</a:t>
            </a:r>
            <a:r>
              <a:rPr lang="lt-LT" dirty="0"/>
              <a:t>. </a:t>
            </a:r>
            <a:r>
              <a:rPr lang="lt-LT" dirty="0" err="1"/>
              <a:t>R</a:t>
            </a:r>
            <a:r>
              <a:rPr lang="lt-LT" dirty="0"/>
              <a:t>., </a:t>
            </a:r>
            <a:r>
              <a:rPr lang="lt-LT" dirty="0" err="1"/>
              <a:t>Trippe</a:t>
            </a:r>
            <a:r>
              <a:rPr lang="lt-LT" dirty="0"/>
              <a:t>, </a:t>
            </a:r>
            <a:r>
              <a:rPr lang="lt-LT" dirty="0" err="1"/>
              <a:t>B</a:t>
            </a:r>
            <a:r>
              <a:rPr lang="lt-LT" dirty="0"/>
              <a:t>. L., </a:t>
            </a:r>
            <a:r>
              <a:rPr lang="lt-LT" dirty="0" err="1"/>
              <a:t>Yim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Eisenach</a:t>
            </a:r>
            <a:r>
              <a:rPr lang="lt-LT" dirty="0"/>
              <a:t>, H. E., </a:t>
            </a:r>
            <a:r>
              <a:rPr lang="lt-LT" dirty="0" err="1"/>
              <a:t>Ahern</a:t>
            </a:r>
            <a:r>
              <a:rPr lang="lt-LT" dirty="0"/>
              <a:t>, </a:t>
            </a:r>
            <a:r>
              <a:rPr lang="lt-LT" dirty="0" err="1"/>
              <a:t>W</a:t>
            </a:r>
            <a:r>
              <a:rPr lang="lt-LT" dirty="0"/>
              <a:t>., </a:t>
            </a:r>
            <a:r>
              <a:rPr lang="lt-LT" dirty="0" err="1"/>
              <a:t>Borst</a:t>
            </a:r>
            <a:r>
              <a:rPr lang="lt-LT" dirty="0"/>
              <a:t>, A.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Ragotte</a:t>
            </a:r>
            <a:r>
              <a:rPr lang="lt-LT" dirty="0"/>
              <a:t>, </a:t>
            </a:r>
            <a:r>
              <a:rPr lang="lt-LT" dirty="0" err="1"/>
              <a:t>R</a:t>
            </a:r>
            <a:r>
              <a:rPr lang="lt-LT" dirty="0"/>
              <a:t>.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Milles</a:t>
            </a:r>
            <a:r>
              <a:rPr lang="lt-LT" dirty="0"/>
              <a:t>, L. </a:t>
            </a:r>
            <a:r>
              <a:rPr lang="lt-LT" dirty="0" err="1"/>
              <a:t>F</a:t>
            </a:r>
            <a:r>
              <a:rPr lang="lt-LT" dirty="0"/>
              <a:t>., </a:t>
            </a:r>
            <a:r>
              <a:rPr lang="lt-LT" dirty="0" err="1"/>
              <a:t>Wicky</a:t>
            </a:r>
            <a:r>
              <a:rPr lang="lt-LT" dirty="0"/>
              <a:t>, </a:t>
            </a:r>
            <a:r>
              <a:rPr lang="lt-LT" dirty="0" err="1"/>
              <a:t>B</a:t>
            </a:r>
            <a:r>
              <a:rPr lang="lt-LT" dirty="0"/>
              <a:t>. I. M., </a:t>
            </a:r>
            <a:r>
              <a:rPr lang="lt-LT" dirty="0" err="1"/>
              <a:t>Hanikel</a:t>
            </a:r>
            <a:r>
              <a:rPr lang="lt-LT" dirty="0"/>
              <a:t>, </a:t>
            </a:r>
            <a:r>
              <a:rPr lang="lt-LT" dirty="0" err="1"/>
              <a:t>N</a:t>
            </a:r>
            <a:r>
              <a:rPr lang="lt-LT" dirty="0"/>
              <a:t>., </a:t>
            </a:r>
            <a:r>
              <a:rPr lang="lt-LT" dirty="0" err="1"/>
              <a:t>Pellock</a:t>
            </a:r>
            <a:r>
              <a:rPr lang="lt-LT" dirty="0"/>
              <a:t>, </a:t>
            </a:r>
            <a:r>
              <a:rPr lang="lt-LT" dirty="0" err="1"/>
              <a:t>S</a:t>
            </a:r>
            <a:r>
              <a:rPr lang="lt-LT" dirty="0"/>
              <a:t>.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Courbet</a:t>
            </a:r>
            <a:r>
              <a:rPr lang="lt-LT" dirty="0"/>
              <a:t>, A., </a:t>
            </a:r>
            <a:r>
              <a:rPr lang="lt-LT" dirty="0" err="1"/>
              <a:t>Sheffler</a:t>
            </a:r>
            <a:r>
              <a:rPr lang="lt-LT" dirty="0"/>
              <a:t>, </a:t>
            </a:r>
            <a:r>
              <a:rPr lang="lt-LT" dirty="0" err="1"/>
              <a:t>W</a:t>
            </a:r>
            <a:r>
              <a:rPr lang="lt-LT" dirty="0"/>
              <a:t>., </a:t>
            </a:r>
            <a:r>
              <a:rPr lang="lt-LT" dirty="0" err="1"/>
              <a:t>Wang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Venkatesh</a:t>
            </a:r>
            <a:r>
              <a:rPr lang="lt-LT" dirty="0"/>
              <a:t>, </a:t>
            </a:r>
            <a:r>
              <a:rPr lang="lt-LT" dirty="0" err="1"/>
              <a:t>P</a:t>
            </a:r>
            <a:r>
              <a:rPr lang="lt-LT" dirty="0"/>
              <a:t>., </a:t>
            </a:r>
            <a:r>
              <a:rPr lang="lt-LT" dirty="0" err="1"/>
              <a:t>Sappington</a:t>
            </a:r>
            <a:r>
              <a:rPr lang="lt-LT" dirty="0"/>
              <a:t>, I., </a:t>
            </a:r>
            <a:r>
              <a:rPr lang="lt-LT" dirty="0" err="1"/>
              <a:t>Vázquez</a:t>
            </a:r>
            <a:r>
              <a:rPr lang="lt-LT" dirty="0"/>
              <a:t> </a:t>
            </a:r>
            <a:r>
              <a:rPr lang="lt-LT" dirty="0" err="1"/>
              <a:t>Torres</a:t>
            </a:r>
            <a:r>
              <a:rPr lang="lt-LT" dirty="0"/>
              <a:t>, </a:t>
            </a:r>
            <a:r>
              <a:rPr lang="lt-LT" dirty="0" err="1"/>
              <a:t>S</a:t>
            </a:r>
            <a:r>
              <a:rPr lang="lt-LT" dirty="0"/>
              <a:t>., … </a:t>
            </a:r>
            <a:r>
              <a:rPr lang="lt-LT" dirty="0" err="1"/>
              <a:t>Baker</a:t>
            </a:r>
            <a:r>
              <a:rPr lang="lt-LT" dirty="0"/>
              <a:t>, D. (2023). De </a:t>
            </a:r>
            <a:r>
              <a:rPr lang="lt-LT" dirty="0" err="1"/>
              <a:t>novo</a:t>
            </a:r>
            <a:r>
              <a:rPr lang="lt-LT" dirty="0"/>
              <a:t> </a:t>
            </a:r>
            <a:r>
              <a:rPr lang="lt-LT" dirty="0" err="1"/>
              <a:t>design</a:t>
            </a:r>
            <a:r>
              <a:rPr lang="lt-LT" dirty="0"/>
              <a:t> </a:t>
            </a:r>
            <a:r>
              <a:rPr lang="lt-LT" dirty="0" err="1"/>
              <a:t>of</a:t>
            </a:r>
            <a:r>
              <a:rPr lang="lt-LT" dirty="0"/>
              <a:t> </a:t>
            </a:r>
            <a:r>
              <a:rPr lang="lt-LT" dirty="0" err="1"/>
              <a:t>protein</a:t>
            </a:r>
            <a:r>
              <a:rPr lang="lt-LT" dirty="0"/>
              <a:t> </a:t>
            </a:r>
            <a:r>
              <a:rPr lang="lt-LT" dirty="0" err="1"/>
              <a:t>structure</a:t>
            </a:r>
            <a:r>
              <a:rPr lang="lt-LT" dirty="0"/>
              <a:t> </a:t>
            </a:r>
            <a:r>
              <a:rPr lang="lt-LT" dirty="0" err="1"/>
              <a:t>and</a:t>
            </a:r>
            <a:r>
              <a:rPr lang="lt-LT" dirty="0"/>
              <a:t> </a:t>
            </a:r>
            <a:r>
              <a:rPr lang="lt-LT" dirty="0" err="1"/>
              <a:t>function</a:t>
            </a:r>
            <a:r>
              <a:rPr lang="lt-LT" dirty="0"/>
              <a:t> </a:t>
            </a:r>
            <a:r>
              <a:rPr lang="lt-LT" dirty="0" err="1"/>
              <a:t>with</a:t>
            </a:r>
            <a:r>
              <a:rPr lang="lt-LT" dirty="0"/>
              <a:t> </a:t>
            </a:r>
            <a:r>
              <a:rPr lang="lt-LT" dirty="0" err="1"/>
              <a:t>RFdiffusion</a:t>
            </a:r>
            <a:r>
              <a:rPr lang="lt-LT" dirty="0"/>
              <a:t>. </a:t>
            </a:r>
            <a:r>
              <a:rPr lang="lt-LT" i="1" dirty="0" err="1"/>
              <a:t>Nature</a:t>
            </a:r>
            <a:r>
              <a:rPr lang="lt-LT" i="1" dirty="0"/>
              <a:t>, 620</a:t>
            </a:r>
            <a:r>
              <a:rPr lang="lt-LT" dirty="0"/>
              <a:t>(7976), 1089–1100. https://</a:t>
            </a:r>
            <a:r>
              <a:rPr lang="lt-LT" dirty="0" err="1"/>
              <a:t>doi.org</a:t>
            </a:r>
            <a:r>
              <a:rPr lang="lt-LT" dirty="0"/>
              <a:t>/10.1038/s41586-023-06415-8</a:t>
            </a:r>
            <a:br>
              <a:rPr lang="lt-LT" dirty="0"/>
            </a:br>
            <a:endParaRPr lang="lt-LT" dirty="0"/>
          </a:p>
          <a:p>
            <a:r>
              <a:rPr lang="lt-LT" dirty="0" err="1"/>
              <a:t>Hayes</a:t>
            </a:r>
            <a:r>
              <a:rPr lang="lt-LT" dirty="0"/>
              <a:t>, </a:t>
            </a:r>
            <a:r>
              <a:rPr lang="lt-LT" dirty="0" err="1"/>
              <a:t>T</a:t>
            </a:r>
            <a:r>
              <a:rPr lang="lt-LT" dirty="0"/>
              <a:t>., </a:t>
            </a:r>
            <a:r>
              <a:rPr lang="lt-LT" dirty="0" err="1"/>
              <a:t>Rao</a:t>
            </a:r>
            <a:r>
              <a:rPr lang="lt-LT" dirty="0"/>
              <a:t>, </a:t>
            </a:r>
            <a:r>
              <a:rPr lang="lt-LT" dirty="0" err="1"/>
              <a:t>R</a:t>
            </a:r>
            <a:r>
              <a:rPr lang="lt-LT" dirty="0"/>
              <a:t>., Akin, H., </a:t>
            </a:r>
            <a:r>
              <a:rPr lang="lt-LT" dirty="0" err="1"/>
              <a:t>Sofroniew</a:t>
            </a:r>
            <a:r>
              <a:rPr lang="lt-LT" dirty="0"/>
              <a:t>, </a:t>
            </a:r>
            <a:r>
              <a:rPr lang="lt-LT" dirty="0" err="1"/>
              <a:t>N</a:t>
            </a:r>
            <a:r>
              <a:rPr lang="lt-LT" dirty="0"/>
              <a:t>.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Oktay</a:t>
            </a:r>
            <a:r>
              <a:rPr lang="lt-LT" dirty="0"/>
              <a:t>, D., </a:t>
            </a:r>
            <a:r>
              <a:rPr lang="lt-LT" dirty="0" err="1"/>
              <a:t>Lin</a:t>
            </a:r>
            <a:r>
              <a:rPr lang="lt-LT" dirty="0"/>
              <a:t>, </a:t>
            </a:r>
            <a:r>
              <a:rPr lang="lt-LT" dirty="0" err="1"/>
              <a:t>Z</a:t>
            </a:r>
            <a:r>
              <a:rPr lang="lt-LT" dirty="0"/>
              <a:t>., </a:t>
            </a:r>
            <a:r>
              <a:rPr lang="lt-LT" dirty="0" err="1"/>
              <a:t>Verkuil</a:t>
            </a:r>
            <a:r>
              <a:rPr lang="lt-LT" dirty="0"/>
              <a:t>, </a:t>
            </a:r>
            <a:r>
              <a:rPr lang="lt-LT" dirty="0" err="1"/>
              <a:t>R</a:t>
            </a:r>
            <a:r>
              <a:rPr lang="lt-LT" dirty="0"/>
              <a:t>., </a:t>
            </a:r>
            <a:r>
              <a:rPr lang="lt-LT" dirty="0" err="1"/>
              <a:t>Tran</a:t>
            </a:r>
            <a:r>
              <a:rPr lang="lt-LT" dirty="0"/>
              <a:t>, V. </a:t>
            </a:r>
            <a:r>
              <a:rPr lang="lt-LT" dirty="0" err="1"/>
              <a:t>Q</a:t>
            </a:r>
            <a:r>
              <a:rPr lang="lt-LT" dirty="0"/>
              <a:t>., </a:t>
            </a:r>
            <a:r>
              <a:rPr lang="lt-LT" dirty="0" err="1"/>
              <a:t>Deaton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Wiggert</a:t>
            </a:r>
            <a:r>
              <a:rPr lang="lt-LT" dirty="0"/>
              <a:t>, M., </a:t>
            </a:r>
            <a:r>
              <a:rPr lang="lt-LT" dirty="0" err="1"/>
              <a:t>Badkundri</a:t>
            </a:r>
            <a:r>
              <a:rPr lang="lt-LT" dirty="0"/>
              <a:t>, </a:t>
            </a:r>
            <a:r>
              <a:rPr lang="lt-LT" dirty="0" err="1"/>
              <a:t>R</a:t>
            </a:r>
            <a:r>
              <a:rPr lang="lt-LT" dirty="0"/>
              <a:t>., </a:t>
            </a:r>
            <a:r>
              <a:rPr lang="lt-LT" dirty="0" err="1"/>
              <a:t>Shafkat</a:t>
            </a:r>
            <a:r>
              <a:rPr lang="lt-LT" dirty="0"/>
              <a:t>, I., </a:t>
            </a:r>
            <a:r>
              <a:rPr lang="lt-LT" dirty="0" err="1"/>
              <a:t>Gong</a:t>
            </a:r>
            <a:r>
              <a:rPr lang="lt-LT" dirty="0"/>
              <a:t>, </a:t>
            </a:r>
            <a:r>
              <a:rPr lang="lt-LT" dirty="0" err="1"/>
              <a:t>J</a:t>
            </a:r>
            <a:r>
              <a:rPr lang="lt-LT" dirty="0"/>
              <a:t>., </a:t>
            </a:r>
            <a:r>
              <a:rPr lang="lt-LT" dirty="0" err="1"/>
              <a:t>Derry</a:t>
            </a:r>
            <a:r>
              <a:rPr lang="lt-LT" dirty="0"/>
              <a:t>, A., Molina, </a:t>
            </a:r>
            <a:r>
              <a:rPr lang="lt-LT" dirty="0" err="1"/>
              <a:t>R</a:t>
            </a:r>
            <a:r>
              <a:rPr lang="lt-LT" dirty="0"/>
              <a:t>. </a:t>
            </a:r>
            <a:r>
              <a:rPr lang="lt-LT" dirty="0" err="1"/>
              <a:t>S</a:t>
            </a:r>
            <a:r>
              <a:rPr lang="lt-LT" dirty="0"/>
              <a:t>., </a:t>
            </a:r>
            <a:r>
              <a:rPr lang="lt-LT" dirty="0" err="1"/>
              <a:t>Thomas</a:t>
            </a:r>
            <a:r>
              <a:rPr lang="lt-LT" dirty="0"/>
              <a:t>, </a:t>
            </a:r>
            <a:r>
              <a:rPr lang="lt-LT" dirty="0" err="1"/>
              <a:t>N</a:t>
            </a:r>
            <a:r>
              <a:rPr lang="lt-LT" dirty="0"/>
              <a:t>., </a:t>
            </a:r>
            <a:r>
              <a:rPr lang="lt-LT" dirty="0" err="1"/>
              <a:t>Khan</a:t>
            </a:r>
            <a:r>
              <a:rPr lang="lt-LT" dirty="0"/>
              <a:t>, Y. A., </a:t>
            </a:r>
            <a:r>
              <a:rPr lang="lt-LT" dirty="0" err="1"/>
              <a:t>Mishra</a:t>
            </a:r>
            <a:r>
              <a:rPr lang="lt-LT" dirty="0"/>
              <a:t>, C., </a:t>
            </a:r>
            <a:r>
              <a:rPr lang="lt-LT" dirty="0" err="1"/>
              <a:t>Kim</a:t>
            </a:r>
            <a:r>
              <a:rPr lang="lt-LT" dirty="0"/>
              <a:t>, C., … </a:t>
            </a:r>
            <a:r>
              <a:rPr lang="lt-LT" dirty="0" err="1"/>
              <a:t>Rives</a:t>
            </a:r>
            <a:r>
              <a:rPr lang="lt-LT" dirty="0"/>
              <a:t>, A. (2025). </a:t>
            </a:r>
            <a:r>
              <a:rPr lang="lt-LT" dirty="0" err="1"/>
              <a:t>Simulating</a:t>
            </a:r>
            <a:r>
              <a:rPr lang="lt-LT" dirty="0"/>
              <a:t> 500 </a:t>
            </a:r>
            <a:r>
              <a:rPr lang="lt-LT" dirty="0" err="1"/>
              <a:t>million</a:t>
            </a:r>
            <a:r>
              <a:rPr lang="lt-LT" dirty="0"/>
              <a:t> </a:t>
            </a:r>
            <a:r>
              <a:rPr lang="lt-LT" dirty="0" err="1"/>
              <a:t>years</a:t>
            </a:r>
            <a:r>
              <a:rPr lang="lt-LT" dirty="0"/>
              <a:t> </a:t>
            </a:r>
            <a:r>
              <a:rPr lang="lt-LT" dirty="0" err="1"/>
              <a:t>of</a:t>
            </a:r>
            <a:r>
              <a:rPr lang="lt-LT" dirty="0"/>
              <a:t> </a:t>
            </a:r>
            <a:r>
              <a:rPr lang="lt-LT" dirty="0" err="1"/>
              <a:t>evolution</a:t>
            </a:r>
            <a:r>
              <a:rPr lang="lt-LT" dirty="0"/>
              <a:t> </a:t>
            </a:r>
            <a:r>
              <a:rPr lang="lt-LT" dirty="0" err="1"/>
              <a:t>with</a:t>
            </a:r>
            <a:r>
              <a:rPr lang="lt-LT" dirty="0"/>
              <a:t> a </a:t>
            </a:r>
            <a:r>
              <a:rPr lang="lt-LT" dirty="0" err="1"/>
              <a:t>language</a:t>
            </a:r>
            <a:r>
              <a:rPr lang="lt-LT" dirty="0"/>
              <a:t> </a:t>
            </a:r>
            <a:r>
              <a:rPr lang="lt-LT" dirty="0" err="1"/>
              <a:t>model</a:t>
            </a:r>
            <a:r>
              <a:rPr lang="lt-LT" dirty="0"/>
              <a:t>. </a:t>
            </a:r>
            <a:r>
              <a:rPr lang="lt-LT" i="1" dirty="0" err="1"/>
              <a:t>Science</a:t>
            </a:r>
            <a:r>
              <a:rPr lang="lt-LT" i="1" dirty="0"/>
              <a:t>, 387</a:t>
            </a:r>
            <a:r>
              <a:rPr lang="lt-LT" dirty="0"/>
              <a:t>(6736), 850–858. https://</a:t>
            </a:r>
            <a:r>
              <a:rPr lang="lt-LT" dirty="0" err="1"/>
              <a:t>doi.org</a:t>
            </a:r>
            <a:r>
              <a:rPr lang="lt-LT" dirty="0"/>
              <a:t>/10.1126/science.ads001</a:t>
            </a:r>
          </a:p>
        </p:txBody>
      </p:sp>
    </p:spTree>
    <p:extLst>
      <p:ext uri="{BB962C8B-B14F-4D97-AF65-F5344CB8AC3E}">
        <p14:creationId xmlns:p14="http://schemas.microsoft.com/office/powerpoint/2010/main" val="3401536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2073</Words>
  <Application>Microsoft Macintosh PowerPoint</Application>
  <PresentationFormat>On-screen Show (16:9)</PresentationFormat>
  <Paragraphs>205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</vt:lpstr>
      <vt:lpstr>Office Theme</vt:lpstr>
      <vt:lpstr>Protein Language Models for AI4Health</vt:lpstr>
      <vt:lpstr>Module Outline</vt:lpstr>
      <vt:lpstr>Why this protein language model matters</vt:lpstr>
      <vt:lpstr>Proteins as a language</vt:lpstr>
      <vt:lpstr>What the language analogy gives us</vt:lpstr>
      <vt:lpstr>The foundation-model view of proteins</vt:lpstr>
      <vt:lpstr>Why this framing matters</vt:lpstr>
      <vt:lpstr>What protein language models learn</vt:lpstr>
      <vt:lpstr>A practical taxonomy</vt:lpstr>
      <vt:lpstr>How these models are used in practice</vt:lpstr>
      <vt:lpstr>ProtTrans and the scale story</vt:lpstr>
      <vt:lpstr>ESM and zero-shot mutation effects</vt:lpstr>
      <vt:lpstr>Structure from language: ESMFold</vt:lpstr>
      <vt:lpstr>AlphaFold2 remains the comparison point</vt:lpstr>
      <vt:lpstr>What to remember about AlphaFold2</vt:lpstr>
      <vt:lpstr>AlphaFold2, ESMFold, and AlphaFold3</vt:lpstr>
      <vt:lpstr>Reading structure predictions responsibly</vt:lpstr>
      <vt:lpstr>From prediction to design</vt:lpstr>
      <vt:lpstr>Sequence generation: ProtGPT2</vt:lpstr>
      <vt:lpstr>Structure-conditioned design: ProteinMPNN</vt:lpstr>
      <vt:lpstr>Structure generation: RFdiffusion</vt:lpstr>
      <vt:lpstr>Multimodal generation: ESM3</vt:lpstr>
      <vt:lpstr>AI-for-health applications</vt:lpstr>
      <vt:lpstr>Limitations, evaluation, and safety</vt:lpstr>
      <vt:lpstr>Take-home messages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Protein Language Models for AI4Health</dc:title>
  <dc:creator>AI for Health</dc:creator>
  <cp:keywords/>
  <cp:lastModifiedBy>H Qin</cp:lastModifiedBy>
  <cp:revision>8</cp:revision>
  <dcterms:created xsi:type="dcterms:W3CDTF">2026-03-24T19:00:23Z</dcterms:created>
  <dcterms:modified xsi:type="dcterms:W3CDTF">2026-03-24T20:54:11Z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24, 2026</vt:lpwstr>
  </property>
</Properties>
</file>