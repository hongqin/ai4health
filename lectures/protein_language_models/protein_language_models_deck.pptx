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56" d="100"/>
          <a:sy n="156" d="100"/>
        </p:scale>
        <p:origin x="80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metadata already generates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sets the foundation-model framing for the rest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 adapted from Sarah Gurev, MLCB 2024, using the user’s local Lecture 11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verbal follow-up slide prevents the image slide from becoming overcrowded in the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Layout adapted from Madani et al. via Sarah Gurev, MLCB 2024. This figure frames pLMs as a bridge between data scale and biomedical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makes the analogy to NLP explicit and also shows why protein ML is broader than structure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citation: Rives et al., 2021. Use this slide to distinguish model families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Keep students from lumping all protein models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Online teaching source: Galaxy GTN “Fine-tuning the Protein Language Model”.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ORNL ProtTrans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sources: Rives et al., 2021 and Meier et al., NeurIPS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 summary from Hugging Face ESM docs and the ESMFold paper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Workflow figure adapted from the user’s local Lecture 09/10 deck, originally citing Jumper et al., Nature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Keeping the bullets on a separate slide avoids awkward content splitting in the PPTX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Sources: AlphaFold 2021 and AlphaFold 3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Online source: EMBL-EBI AlphaFold course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is a section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ProtGPT2, Nature Communications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ProteinMPNN, Science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RFdiffusion, Nature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sources: EvolutionaryScale repository and Hayes et al., Science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can tie this slide back to examples in the user’s local Lecture 11 deck on mutation effects and vaccine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is important for keeping the module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End on distinctions, not just a model list: represent, predict, generate,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Protein Language Models for AI4Health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AI for Health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March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Module arc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sequence as language</a:t>
            </a:r>
          </a:p>
          <a:p>
            <a:pPr lvl="0"/>
            <a:r>
              <a:t>representation models</a:t>
            </a:r>
          </a:p>
          <a:p>
            <a:pPr lvl="0"/>
            <a:r>
              <a:t>structure prediction</a:t>
            </a:r>
          </a:p>
          <a:p>
            <a:pPr lvl="0"/>
            <a:r>
              <a:t>generative design</a:t>
            </a:r>
          </a:p>
          <a:p>
            <a:pPr lvl="0"/>
            <a:r>
              <a:t>AI-for-health applications</a:t>
            </a:r>
          </a:p>
          <a:p>
            <a:pPr marL="0" lvl="0" indent="0">
              <a:buNone/>
            </a:pPr>
            <a:r>
              <a:t>Core question:</a:t>
            </a:r>
          </a:p>
          <a:p>
            <a:pPr lvl="0"/>
            <a:r>
              <a:t>what do protein foundation models learn, and how can we use them in health?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module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Proteins sit between genotype and phenotype.</a:t>
            </a:r>
          </a:p>
          <a:p>
            <a:pPr lvl="0"/>
            <a:r>
              <a:t>Sequence data is abundant; structural and functional labels are much scarcer.</a:t>
            </a:r>
          </a:p>
          <a:p>
            <a:pPr lvl="0"/>
            <a:r>
              <a:t>Protein language models let us learn from raw sequence scale before task-specific supervision.</a:t>
            </a:r>
          </a:p>
          <a:p>
            <a:pPr lvl="0"/>
            <a:r>
              <a:t>In AI for health, that matters for variant interpretation, therapeutic design, and target biology.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Proteins as a language</a:t>
            </a:r>
          </a:p>
        </p:txBody>
      </p:sp>
      <p:pic>
        <p:nvPicPr>
          <p:cNvPr id="3" name="Picture 1" descr="deck_assets/proteins_language_tabl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930400"/>
            <a:ext cx="82296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the language analogy gives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Amino-acid sequences have local syntax, long-range dependencies, and biological meaning.</a:t>
            </a:r>
          </a:p>
          <a:p>
            <a:pPr lvl="0"/>
            <a:r>
              <a:t>“Meaning” in protein space includes fold, stability, binding, localization, and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foundation-model view of proteins</a:t>
            </a:r>
          </a:p>
        </p:txBody>
      </p:sp>
      <p:pic>
        <p:nvPicPr>
          <p:cNvPr id="3" name="Picture 1" descr="deck_assets/protein_model_task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1193800"/>
            <a:ext cx="6972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framing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Data: sequence repositories, structures, antibodies, and interaction datasets</a:t>
            </a:r>
          </a:p>
          <a:p>
            <a:pPr lvl="0"/>
            <a:r>
              <a:t>Model: a protein foundation model</a:t>
            </a:r>
          </a:p>
          <a:p>
            <a:pPr lvl="0"/>
            <a:r>
              <a:t>Tasks: structure, mutation effects, interactions, and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protein language models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Local biochemical regularities</a:t>
            </a:r>
          </a:p>
          <a:p>
            <a:pPr lvl="0"/>
            <a:r>
              <a:t>Remote residue dependencies</a:t>
            </a:r>
          </a:p>
          <a:p>
            <a:pPr lvl="0"/>
            <a:r>
              <a:t>Evolutionary constraints</a:t>
            </a:r>
          </a:p>
          <a:p>
            <a:pPr lvl="0"/>
            <a:r>
              <a:t>Signals related to structure and mutation effects</a:t>
            </a:r>
          </a:p>
          <a:p>
            <a:pPr marL="0" lvl="0" indent="0">
              <a:buNone/>
            </a:pPr>
            <a:r>
              <a:t>Rough mental model:</a:t>
            </a:r>
          </a:p>
          <a:p>
            <a:pPr lvl="0"/>
            <a:r>
              <a:rPr>
                <a:latin typeface="Courier"/>
              </a:rPr>
              <a:t>representation</a:t>
            </a:r>
            <a:r>
              <a:t> models embed protein sequences</a:t>
            </a:r>
          </a:p>
          <a:p>
            <a:pPr lvl="0"/>
            <a:r>
              <a:rPr>
                <a:latin typeface="Courier"/>
              </a:rPr>
              <a:t>prediction</a:t>
            </a:r>
            <a:r>
              <a:t> models infer structure or function</a:t>
            </a:r>
          </a:p>
          <a:p>
            <a:pPr lvl="0"/>
            <a:r>
              <a:rPr>
                <a:latin typeface="Courier"/>
              </a:rPr>
              <a:t>generation</a:t>
            </a:r>
            <a:r>
              <a:t> models design new sequences or structures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practical taxonomy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Canonical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goes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comes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ProtTrans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ESM-1/2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embeddings,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Structure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AlphaFold2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ESMFold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AlphaFold3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sequence, MSA, templates, or single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3D structure and 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ProtGPT2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ProteinMPNN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RFdiffusion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ESM3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sequence, structure,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sequences, structures,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these models are used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Pretrain once on large unlabeled protein corpora</a:t>
            </a:r>
          </a:p>
          <a:p>
            <a:pPr lvl="0"/>
            <a:r>
              <a:t>Reuse embeddings for downstream tasks</a:t>
            </a:r>
          </a:p>
          <a:p>
            <a:pPr lvl="0"/>
            <a:r>
              <a:t>Fine-tune only when the task or dataset justifies it</a:t>
            </a:r>
          </a:p>
          <a:p>
            <a:pPr lvl="0"/>
            <a:r>
              <a:t>Pair language models with structure models and wet-lab validation</a:t>
            </a:r>
          </a:p>
          <a:p>
            <a:pPr marL="0" lvl="0" indent="0">
              <a:buNone/>
            </a:pPr>
            <a:r>
              <a:t>Teaching message:</a:t>
            </a:r>
          </a:p>
          <a:p>
            <a:pPr lvl="0"/>
            <a:r>
              <a:t>Universities usually use pretrained models far more often than they train them from scratch.</a:t>
            </a:r>
          </a:p>
          <a:p>
            <a:pPr marL="0" lvl="0" indent="0">
              <a:buNone/>
            </a:pPr>
            <a:r>
              <a:rPr i="1"/>
              <a:t>Teaching framing adapted from Galaxy Training Network protein language model materials (CC BY 4.0).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ProtTrans and the scale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ProtTrans</a:t>
            </a:r>
            <a:r>
              <a:t> is a good first example of protein transfer learning at scale.</a:t>
            </a:r>
          </a:p>
          <a:p>
            <a:pPr lvl="0"/>
            <a:r>
              <a:t>ORNL reports training on up to </a:t>
            </a:r>
            <a:r>
              <a:rPr>
                <a:latin typeface="Courier"/>
              </a:rPr>
              <a:t>393 billion amino acids</a:t>
            </a:r>
            <a:r>
              <a:t>.</a:t>
            </a:r>
          </a:p>
          <a:p>
            <a:pPr lvl="0"/>
            <a:r>
              <a:t>Reported compute included </a:t>
            </a:r>
            <a:r>
              <a:rPr>
                <a:latin typeface="Courier"/>
              </a:rPr>
              <a:t>5616 GPUs</a:t>
            </a:r>
            <a:r>
              <a:t> and up to </a:t>
            </a:r>
            <a:r>
              <a:rPr>
                <a:latin typeface="Courier"/>
              </a:rPr>
              <a:t>1024 TPU cores</a:t>
            </a:r>
            <a:r>
              <a:t>.</a:t>
            </a:r>
          </a:p>
          <a:p>
            <a:pPr marL="0" lvl="0" indent="0">
              <a:buNone/>
            </a:pPr>
            <a:r>
              <a:t>Takeaway:</a:t>
            </a:r>
          </a:p>
          <a:p>
            <a:pPr lvl="0"/>
            <a:r>
              <a:t>The main classroom lesson is not the exact number.</a:t>
            </a:r>
          </a:p>
          <a:p>
            <a:pPr lvl="0"/>
            <a:r>
              <a:t>It is that large protein corpora support reusable biological representations.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ESM and zero-shot mutation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ESM</a:t>
            </a:r>
            <a:r>
              <a:t> models are core sequence representation models.</a:t>
            </a:r>
          </a:p>
          <a:p>
            <a:pPr lvl="0"/>
            <a:r>
              <a:t>They show that structure- and function-related information can emerge from sequence-only pretraining.</a:t>
            </a:r>
          </a:p>
          <a:p>
            <a:pPr lvl="0"/>
            <a:r>
              <a:t>Protein language models can also support </a:t>
            </a:r>
            <a:r>
              <a:rPr>
                <a:latin typeface="Courier"/>
              </a:rPr>
              <a:t>zero-shot</a:t>
            </a:r>
            <a:r>
              <a:t> mutation-effect prediction.</a:t>
            </a:r>
          </a:p>
          <a:p>
            <a:pPr marL="0" lvl="0" indent="0">
              <a:buNone/>
            </a:pPr>
            <a:r>
              <a:t>Health connection:</a:t>
            </a:r>
          </a:p>
          <a:p>
            <a:pPr lvl="0"/>
            <a:r>
              <a:t>This is one of the clearest paths from pLMs to disease-variant interpretation.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Structure from language: ESMFold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ESMFold</a:t>
            </a:r>
            <a:r>
              <a:t> predicts structure from a single sequence using protein LM representations.</a:t>
            </a:r>
          </a:p>
          <a:p>
            <a:pPr lvl="0"/>
            <a:r>
              <a:t>It avoids the full </a:t>
            </a:r>
            <a:r>
              <a:rPr>
                <a:latin typeface="Courier"/>
              </a:rPr>
              <a:t>MSA + template</a:t>
            </a:r>
            <a:r>
              <a:t> pipeline used by AlphaFold2.</a:t>
            </a:r>
          </a:p>
          <a:p>
            <a:pPr lvl="0"/>
            <a:r>
              <a:t>This makes it the cleanest bridge from pLMs to structure prediction.</a:t>
            </a:r>
          </a:p>
          <a:p>
            <a:pPr marL="0" lvl="0" indent="0">
              <a:buNone/>
            </a:pPr>
            <a:r>
              <a:t>Classroom framing:</a:t>
            </a:r>
          </a:p>
          <a:p>
            <a:pPr lvl="0"/>
            <a:r>
              <a:rPr>
                <a:latin typeface="Courier"/>
              </a:rPr>
              <a:t>AlphaFold2</a:t>
            </a:r>
            <a:r>
              <a:t> changed structure prediction.</a:t>
            </a:r>
          </a:p>
          <a:p>
            <a:pPr lvl="0"/>
            <a:r>
              <a:rPr>
                <a:latin typeface="Courier"/>
              </a:rPr>
              <a:t>ESMFold</a:t>
            </a:r>
            <a:r>
              <a:t> showed how far single-sequence language models had progressed.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AlphaFold2 remains the comparison point</a:t>
            </a:r>
          </a:p>
        </p:txBody>
      </p:sp>
      <p:pic>
        <p:nvPicPr>
          <p:cNvPr id="3" name="Picture 1" descr="deck_assets/alphafold_workflow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270000"/>
            <a:ext cx="8229600" cy="325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to remember about AlphaFold2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Input sequence plus </a:t>
            </a:r>
            <a:r>
              <a:rPr>
                <a:latin typeface="Courier"/>
              </a:rPr>
              <a:t>MSA</a:t>
            </a:r>
            <a:r>
              <a:t> and optional templates</a:t>
            </a:r>
          </a:p>
          <a:p>
            <a:pPr lvl="0"/>
            <a:r>
              <a:rPr>
                <a:latin typeface="Courier"/>
              </a:rPr>
              <a:t>Evoformer</a:t>
            </a:r>
            <a:r>
              <a:t> updates sequence and pair representations</a:t>
            </a:r>
          </a:p>
          <a:p>
            <a:pPr lvl="0"/>
            <a:r>
              <a:t>Structure module predicts 3D coordinates and confidence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AlphaFold2, ESMFold, and AlphaFold3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AlphaFold2</a:t>
            </a:r>
            <a:r>
              <a:t> strongest historical reference point; relies heavily on MSA information</a:t>
            </a:r>
          </a:p>
          <a:p>
            <a:pPr lvl="0"/>
            <a:r>
              <a:rPr>
                <a:latin typeface="Courier"/>
              </a:rPr>
              <a:t>ESMFold</a:t>
            </a:r>
            <a:r>
              <a:t> single-sequence structure prediction powered by protein language model representations</a:t>
            </a:r>
          </a:p>
          <a:p>
            <a:pPr lvl="0"/>
            <a:r>
              <a:rPr>
                <a:latin typeface="Courier"/>
              </a:rPr>
              <a:t>AlphaFold3</a:t>
            </a:r>
            <a:r>
              <a:t> extends the task to broader biomolecular interactions involving proteins, nucleic acids, and ligands</a:t>
            </a:r>
          </a:p>
          <a:p>
            <a:pPr marL="0" lvl="0" indent="0">
              <a:buNone/>
            </a:pPr>
            <a:r>
              <a:t>Teaching rule:</a:t>
            </a:r>
          </a:p>
          <a:p>
            <a:pPr lvl="0"/>
            <a:r>
              <a:t>Present AlphaFold inside this module as a partner and comparison model, not as a generic protein LM.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Reading structure predictions responsibly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Confidence matters: </a:t>
            </a:r>
            <a:r>
              <a:rPr>
                <a:latin typeface="Courier"/>
              </a:rPr>
              <a:t>pLDDT</a:t>
            </a:r>
            <a:r>
              <a:t> and </a:t>
            </a:r>
            <a:r>
              <a:rPr>
                <a:latin typeface="Courier"/>
              </a:rPr>
              <a:t>PAE</a:t>
            </a:r>
            <a:r>
              <a:t> are not optional extras</a:t>
            </a:r>
          </a:p>
          <a:p>
            <a:pPr lvl="0"/>
            <a:r>
              <a:t>High structural confidence is not the same as validated function</a:t>
            </a:r>
          </a:p>
          <a:p>
            <a:pPr lvl="0"/>
            <a:r>
              <a:t>Disorder, complexes, ligands, and alternate conformations remain hard cases</a:t>
            </a:r>
          </a:p>
          <a:p>
            <a:pPr marL="0" lvl="0" indent="0">
              <a:buNone/>
            </a:pPr>
            <a:r>
              <a:t>Three warnings for students:</a:t>
            </a:r>
          </a:p>
          <a:p>
            <a:pPr lvl="0"/>
            <a:r>
              <a:t>pretty structure is not proof</a:t>
            </a:r>
          </a:p>
          <a:p>
            <a:pPr lvl="0"/>
            <a:r>
              <a:t>monomer structure is not the whole biology</a:t>
            </a:r>
          </a:p>
          <a:p>
            <a:pPr lvl="0"/>
            <a:r>
              <a:t>experimental validation still decides utility</a:t>
            </a:r>
          </a:p>
          <a:p>
            <a:pPr marL="0" lvl="0" indent="0">
              <a:buNone/>
            </a:pPr>
            <a:r>
              <a:rPr i="1"/>
              <a:t>Pedagogical framing adapted from EMBL-EBI AlphaFold course slides (CC BY 4.0).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prediction to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Once we can model protein space, we naturally ask whether we can also generate new proteins.</a:t>
            </a:r>
          </a:p>
          <a:p>
            <a:pPr lvl="0"/>
            <a:r>
              <a:t>This splits into three design settings: sequence generation, inverse folding, and structure generation.</a:t>
            </a:r>
          </a:p>
          <a:p>
            <a:pPr marL="0" lvl="0" indent="0">
              <a:buNone/>
            </a:pPr>
            <a:r>
              <a:t>Use this as the transition slide before generative models.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Sequence generation: ProtGPT2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Autoregressive model for de novo protein sequence generation</a:t>
            </a:r>
          </a:p>
          <a:p>
            <a:pPr lvl="0"/>
            <a:r>
              <a:t>Useful to introduce the idea of “writing” protein sequences directly</a:t>
            </a:r>
          </a:p>
          <a:p>
            <a:pPr lvl="0"/>
            <a:r>
              <a:t>The paper reports that </a:t>
            </a:r>
            <a:r>
              <a:rPr>
                <a:latin typeface="Courier"/>
              </a:rPr>
              <a:t>88%</a:t>
            </a:r>
            <a:r>
              <a:t> of generated sequences were predicted as globular</a:t>
            </a:r>
          </a:p>
          <a:p>
            <a:pPr marL="0" lvl="0" indent="0">
              <a:buNone/>
            </a:pPr>
            <a:r>
              <a:t>Main teaching point:</a:t>
            </a:r>
          </a:p>
          <a:p>
            <a:pPr lvl="0"/>
            <a:r>
              <a:t>Natural-looking sequence is an encouraging signal, but not the same as function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Structure-conditioned design: ProteinMPNN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Input: backbone structure</a:t>
            </a:r>
          </a:p>
          <a:p>
            <a:pPr lvl="0"/>
            <a:r>
              <a:t>Output: a sequence expected to realize that structure</a:t>
            </a:r>
          </a:p>
          <a:p>
            <a:pPr lvl="0"/>
            <a:r>
              <a:t>This is inverse folding rather than generic language modeling</a:t>
            </a:r>
          </a:p>
          <a:p>
            <a:pPr marL="0" lvl="0" indent="0">
              <a:buNone/>
            </a:pPr>
            <a:r>
              <a:t>Why it matters:</a:t>
            </a:r>
          </a:p>
          <a:p>
            <a:pPr lvl="0"/>
            <a:r>
              <a:t>It is a standard step in modern protein design pipelines</a:t>
            </a:r>
          </a:p>
          <a:p>
            <a:pPr lvl="0"/>
            <a:r>
              <a:t>It connects structure generation to actual sequence 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Structure generation: RFdiffusion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Diffusion model for generating protein backbones</a:t>
            </a:r>
          </a:p>
          <a:p>
            <a:pPr lvl="0"/>
            <a:r>
              <a:t>Strong for motif scaffolding, binder design, and de novo structural design</a:t>
            </a:r>
          </a:p>
          <a:p>
            <a:pPr lvl="0"/>
            <a:r>
              <a:t>Often paired with </a:t>
            </a:r>
            <a:r>
              <a:rPr>
                <a:latin typeface="Courier"/>
              </a:rPr>
              <a:t>ProteinMPNN</a:t>
            </a:r>
            <a:r>
              <a:t> after backbone generation</a:t>
            </a:r>
          </a:p>
          <a:p>
            <a:pPr marL="0" lvl="0" indent="0">
              <a:buNone/>
            </a:pPr>
            <a:r>
              <a:t>Takeaway:</a:t>
            </a:r>
          </a:p>
          <a:p>
            <a:pPr lvl="0"/>
            <a:r>
              <a:t>This is one of the most important modern design workflows for students to recognize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Multimodal generation: ESM3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ESM3</a:t>
            </a:r>
            <a:r>
              <a:t> moves beyond sequence-only modeling</a:t>
            </a:r>
          </a:p>
          <a:p>
            <a:pPr lvl="0"/>
            <a:r>
              <a:t>Jointly reasons over </a:t>
            </a:r>
            <a:r>
              <a:rPr>
                <a:latin typeface="Courier"/>
              </a:rPr>
              <a:t>sequence</a:t>
            </a:r>
            <a:r>
              <a:t>, </a:t>
            </a:r>
            <a:r>
              <a:rPr>
                <a:latin typeface="Courier"/>
              </a:rPr>
              <a:t>structure</a:t>
            </a:r>
            <a:r>
              <a:t>, and </a:t>
            </a:r>
            <a:r>
              <a:rPr>
                <a:latin typeface="Courier"/>
              </a:rPr>
              <a:t>function</a:t>
            </a:r>
          </a:p>
          <a:p>
            <a:pPr lvl="0"/>
            <a:r>
              <a:t>A good capstone example because it unifies representation learning and generation</a:t>
            </a:r>
          </a:p>
          <a:p>
            <a:pPr marL="0" lvl="0" indent="0">
              <a:buNone/>
            </a:pPr>
            <a:r>
              <a:t>Frontier message:</a:t>
            </a:r>
          </a:p>
          <a:p>
            <a:pPr lvl="0"/>
            <a:r>
              <a:t>Protein foundation models are moving toward multimodal, prompted biological generation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AI-for-health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Missense variant interpretation</a:t>
            </a:r>
          </a:p>
          <a:p>
            <a:pPr lvl="0"/>
            <a:r>
              <a:t>Antibody and binder design</a:t>
            </a:r>
          </a:p>
          <a:p>
            <a:pPr lvl="0"/>
            <a:r>
              <a:t>Vaccine and antigen design</a:t>
            </a:r>
          </a:p>
          <a:p>
            <a:pPr lvl="0"/>
            <a:r>
              <a:t>Enzyme engineering for diagnostics and therapeutics</a:t>
            </a:r>
          </a:p>
          <a:p>
            <a:pPr lvl="0"/>
            <a:r>
              <a:t>Structure-guided target understanding</a:t>
            </a:r>
          </a:p>
          <a:p>
            <a:pPr marL="0" lvl="0" indent="0">
              <a:buNone/>
            </a:pPr>
            <a:r>
              <a:t>Balanced conclusion:</a:t>
            </a:r>
          </a:p>
          <a:p>
            <a:pPr lvl="0"/>
            <a:r>
              <a:t>These models accelerate hypothesis generation</a:t>
            </a:r>
          </a:p>
          <a:p>
            <a:pPr lvl="0"/>
            <a:r>
              <a:t>They do not replace biological experiments or clinical evidence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Limitations, evaluation,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Training-data overlap and benchmark leakage are real risks</a:t>
            </a:r>
          </a:p>
          <a:p>
            <a:pPr lvl="0"/>
            <a:r>
              <a:t>Generated proteins may be plausible but unstable, nonfunctional, or unexpressed</a:t>
            </a:r>
          </a:p>
          <a:p>
            <a:pPr lvl="0"/>
            <a:r>
              <a:t>Dual-use concerns apply to open generative models</a:t>
            </a:r>
          </a:p>
          <a:p>
            <a:pPr lvl="0"/>
            <a:r>
              <a:t>Evaluation should combine novelty, structure, assay performance, and biological relevance</a:t>
            </a:r>
          </a:p>
          <a:p>
            <a:pPr marL="0" lvl="0" indent="0">
              <a:buNone/>
            </a:pPr>
            <a:r>
              <a:t>If students remember one sentence:</a:t>
            </a:r>
          </a:p>
          <a:p>
            <a:pPr lvl="0"/>
            <a:r>
              <a:rPr>
                <a:latin typeface="Courier"/>
              </a:rPr>
              <a:t>structure confidence is useful, but function is the real endpoint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Protein language models learn meaningful biological representations from sequence alone</a:t>
            </a:r>
          </a:p>
          <a:p>
            <a:pPr lvl="0"/>
            <a:r>
              <a:rPr>
                <a:latin typeface="Courier"/>
              </a:rPr>
              <a:t>AlphaFold2</a:t>
            </a:r>
            <a:r>
              <a:t>, </a:t>
            </a:r>
            <a:r>
              <a:rPr>
                <a:latin typeface="Courier"/>
              </a:rPr>
              <a:t>ESMFold</a:t>
            </a:r>
            <a:r>
              <a:t>, and </a:t>
            </a:r>
            <a:r>
              <a:rPr>
                <a:latin typeface="Courier"/>
              </a:rPr>
              <a:t>AlphaFold3</a:t>
            </a:r>
            <a:r>
              <a:t> belong in this module because they anchor the prediction side of the field</a:t>
            </a:r>
          </a:p>
          <a:p>
            <a:pPr lvl="0"/>
            <a:r>
              <a:t>Generative models now span sequence, inverse folding, and diffusion-based structure design</a:t>
            </a:r>
          </a:p>
          <a:p>
            <a:pPr lvl="0"/>
            <a:r>
              <a:t>The field is moving toward multimodal protein foundation models</a:t>
            </a:r>
          </a:p>
          <a:p>
            <a:pPr lvl="0"/>
            <a:r>
              <a:t>In health applications, model output is a starting point, not the final answer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Suggested reading</a:t>
            </a:r>
          </a:p>
          <a:p>
            <a:pPr lvl="0"/>
            <a:r>
              <a:rPr>
                <a:latin typeface="Courier"/>
              </a:rPr>
              <a:t>Rives et al., 2021</a:t>
            </a:r>
          </a:p>
          <a:p>
            <a:pPr lvl="0"/>
            <a:r>
              <a:rPr>
                <a:latin typeface="Courier"/>
              </a:rPr>
              <a:t>Jumper et al., 2021</a:t>
            </a:r>
          </a:p>
          <a:p>
            <a:pPr lvl="0"/>
            <a:r>
              <a:rPr>
                <a:latin typeface="Courier"/>
              </a:rPr>
              <a:t>Abramson et al., 2024</a:t>
            </a:r>
          </a:p>
          <a:p>
            <a:pPr lvl="0"/>
            <a:r>
              <a:rPr>
                <a:latin typeface="Courier"/>
              </a:rPr>
              <a:t>ProtGPT2, 2022</a:t>
            </a:r>
          </a:p>
          <a:p>
            <a:pPr lvl="0"/>
            <a:r>
              <a:rPr>
                <a:latin typeface="Courier"/>
              </a:rPr>
              <a:t>RFdiffusion, 2023</a:t>
            </a:r>
          </a:p>
          <a:p>
            <a:pPr lvl="0"/>
            <a:r>
              <a:rPr>
                <a:latin typeface="Courier"/>
              </a:rPr>
              <a:t>Hayes et al.,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Microsoft Macintosh PowerPoint</Application>
  <PresentationFormat>On-screen Show (16:9)</PresentationFormat>
  <Paragraphs>205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</vt:lpstr>
      <vt:lpstr>Office Theme</vt:lpstr>
      <vt:lpstr>Protein Language Models for AI4Health</vt:lpstr>
      <vt:lpstr>Module arc</vt:lpstr>
      <vt:lpstr>Why this module matters</vt:lpstr>
      <vt:lpstr>Proteins as a language</vt:lpstr>
      <vt:lpstr>What the language analogy gives us</vt:lpstr>
      <vt:lpstr>The foundation-model view of proteins</vt:lpstr>
      <vt:lpstr>Why this framing matters</vt:lpstr>
      <vt:lpstr>What protein language models learn</vt:lpstr>
      <vt:lpstr>A practical taxonomy</vt:lpstr>
      <vt:lpstr>How these models are used in practice</vt:lpstr>
      <vt:lpstr>ProtTrans and the scale story</vt:lpstr>
      <vt:lpstr>ESM and zero-shot mutation effects</vt:lpstr>
      <vt:lpstr>Structure from language: ESMFold</vt:lpstr>
      <vt:lpstr>AlphaFold2 remains the comparison point</vt:lpstr>
      <vt:lpstr>What to remember about AlphaFold2</vt:lpstr>
      <vt:lpstr>AlphaFold2, ESMFold, and AlphaFold3</vt:lpstr>
      <vt:lpstr>Reading structure predictions responsibly</vt:lpstr>
      <vt:lpstr>From prediction to design</vt:lpstr>
      <vt:lpstr>Sequence generation: ProtGPT2</vt:lpstr>
      <vt:lpstr>Structure-conditioned design: ProteinMPNN</vt:lpstr>
      <vt:lpstr>Structure generation: RFdiffusion</vt:lpstr>
      <vt:lpstr>Multimodal generation: ESM3</vt:lpstr>
      <vt:lpstr>AI-for-health applications</vt:lpstr>
      <vt:lpstr>Limitations, evaluation, and safety</vt:lpstr>
      <vt:lpstr>Take-home messages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 Language Models for AI4Health</dc:title>
  <dc:creator>AI for Health</dc:creator>
  <cp:keywords/>
  <cp:lastModifiedBy>H Qin</cp:lastModifiedBy>
  <cp:revision>1</cp:revision>
  <dcterms:created xsi:type="dcterms:W3CDTF">2026-03-24T19:00:23Z</dcterms:created>
  <dcterms:modified xsi:type="dcterms:W3CDTF">2026-03-24T19:03:09Z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24, 2026</vt:lpwstr>
  </property>
</Properties>
</file>